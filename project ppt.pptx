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6" r:id="rId18"/>
    <p:sldId id="272" r:id="rId19"/>
    <p:sldId id="273" r:id="rId20"/>
    <p:sldId id="274" r:id="rId21"/>
    <p:sldId id="275"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D67CA7-5D69-4536-9B59-AE316F97A74C}" v="88" dt="2025-03-08T06:27:42.5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RGAVI N" userId="df6018a2982cc948" providerId="LiveId" clId="{14D67CA7-5D69-4536-9B59-AE316F97A74C}"/>
    <pc:docChg chg="undo custSel addSld delSld modSld">
      <pc:chgData name="BHARGAVI N" userId="df6018a2982cc948" providerId="LiveId" clId="{14D67CA7-5D69-4536-9B59-AE316F97A74C}" dt="2025-03-08T06:53:47.985" v="1284" actId="27636"/>
      <pc:docMkLst>
        <pc:docMk/>
      </pc:docMkLst>
      <pc:sldChg chg="modSp new del">
        <pc:chgData name="BHARGAVI N" userId="df6018a2982cc948" providerId="LiveId" clId="{14D67CA7-5D69-4536-9B59-AE316F97A74C}" dt="2025-03-07T11:54:24.845" v="13" actId="680"/>
        <pc:sldMkLst>
          <pc:docMk/>
          <pc:sldMk cId="1465192856" sldId="256"/>
        </pc:sldMkLst>
        <pc:spChg chg="mod">
          <ac:chgData name="BHARGAVI N" userId="df6018a2982cc948" providerId="LiveId" clId="{14D67CA7-5D69-4536-9B59-AE316F97A74C}" dt="2025-03-07T11:54:24.515" v="12"/>
          <ac:spMkLst>
            <pc:docMk/>
            <pc:sldMk cId="1465192856" sldId="256"/>
            <ac:spMk id="2" creationId="{926D5F1B-5A5D-6A45-A06E-9078D81FF28E}"/>
          </ac:spMkLst>
        </pc:spChg>
        <pc:spChg chg="mod">
          <ac:chgData name="BHARGAVI N" userId="df6018a2982cc948" providerId="LiveId" clId="{14D67CA7-5D69-4536-9B59-AE316F97A74C}" dt="2025-03-07T11:54:24.515" v="12"/>
          <ac:spMkLst>
            <pc:docMk/>
            <pc:sldMk cId="1465192856" sldId="256"/>
            <ac:spMk id="3" creationId="{C01F27F4-70AE-CC72-37A1-79BABD054C35}"/>
          </ac:spMkLst>
        </pc:spChg>
      </pc:sldChg>
      <pc:sldChg chg="delSp modSp new mod">
        <pc:chgData name="BHARGAVI N" userId="df6018a2982cc948" providerId="LiveId" clId="{14D67CA7-5D69-4536-9B59-AE316F97A74C}" dt="2025-03-07T12:00:01.658" v="43" actId="403"/>
        <pc:sldMkLst>
          <pc:docMk/>
          <pc:sldMk cId="1654587478" sldId="256"/>
        </pc:sldMkLst>
        <pc:spChg chg="mod">
          <ac:chgData name="BHARGAVI N" userId="df6018a2982cc948" providerId="LiveId" clId="{14D67CA7-5D69-4536-9B59-AE316F97A74C}" dt="2025-03-07T12:00:01.658" v="43" actId="403"/>
          <ac:spMkLst>
            <pc:docMk/>
            <pc:sldMk cId="1654587478" sldId="256"/>
            <ac:spMk id="2" creationId="{762477E6-D845-0A38-643C-FC878E9E4F4A}"/>
          </ac:spMkLst>
        </pc:spChg>
        <pc:spChg chg="del mod">
          <ac:chgData name="BHARGAVI N" userId="df6018a2982cc948" providerId="LiveId" clId="{14D67CA7-5D69-4536-9B59-AE316F97A74C}" dt="2025-03-07T11:59:52.726" v="42" actId="21"/>
          <ac:spMkLst>
            <pc:docMk/>
            <pc:sldMk cId="1654587478" sldId="256"/>
            <ac:spMk id="3" creationId="{3795C21D-F89A-624A-FCBA-01FD19E18F07}"/>
          </ac:spMkLst>
        </pc:spChg>
      </pc:sldChg>
      <pc:sldChg chg="modSp new del">
        <pc:chgData name="BHARGAVI N" userId="df6018a2982cc948" providerId="LiveId" clId="{14D67CA7-5D69-4536-9B59-AE316F97A74C}" dt="2025-03-07T11:56:28.189" v="23" actId="680"/>
        <pc:sldMkLst>
          <pc:docMk/>
          <pc:sldMk cId="3369229994" sldId="256"/>
        </pc:sldMkLst>
        <pc:spChg chg="mod">
          <ac:chgData name="BHARGAVI N" userId="df6018a2982cc948" providerId="LiveId" clId="{14D67CA7-5D69-4536-9B59-AE316F97A74C}" dt="2025-03-07T11:56:27.843" v="22"/>
          <ac:spMkLst>
            <pc:docMk/>
            <pc:sldMk cId="3369229994" sldId="256"/>
            <ac:spMk id="2" creationId="{1B46AD69-725F-1B32-92CA-1674B2B7D4D7}"/>
          </ac:spMkLst>
        </pc:spChg>
        <pc:spChg chg="mod">
          <ac:chgData name="BHARGAVI N" userId="df6018a2982cc948" providerId="LiveId" clId="{14D67CA7-5D69-4536-9B59-AE316F97A74C}" dt="2025-03-07T11:56:27.843" v="22"/>
          <ac:spMkLst>
            <pc:docMk/>
            <pc:sldMk cId="3369229994" sldId="256"/>
            <ac:spMk id="3" creationId="{9655BE81-E1D9-0319-FB29-18D57D82D8E5}"/>
          </ac:spMkLst>
        </pc:spChg>
      </pc:sldChg>
      <pc:sldChg chg="modSp new mod">
        <pc:chgData name="BHARGAVI N" userId="df6018a2982cc948" providerId="LiveId" clId="{14D67CA7-5D69-4536-9B59-AE316F97A74C}" dt="2025-03-08T06:53:19.239" v="1277" actId="27636"/>
        <pc:sldMkLst>
          <pc:docMk/>
          <pc:sldMk cId="2180739687" sldId="257"/>
        </pc:sldMkLst>
        <pc:spChg chg="mod">
          <ac:chgData name="BHARGAVI N" userId="df6018a2982cc948" providerId="LiveId" clId="{14D67CA7-5D69-4536-9B59-AE316F97A74C}" dt="2025-03-07T12:00:52.520" v="62" actId="2710"/>
          <ac:spMkLst>
            <pc:docMk/>
            <pc:sldMk cId="2180739687" sldId="257"/>
            <ac:spMk id="2" creationId="{3E435EA1-D3ED-FCDE-9554-4F7D53B3726C}"/>
          </ac:spMkLst>
        </pc:spChg>
        <pc:spChg chg="mod">
          <ac:chgData name="BHARGAVI N" userId="df6018a2982cc948" providerId="LiveId" clId="{14D67CA7-5D69-4536-9B59-AE316F97A74C}" dt="2025-03-08T06:53:19.239" v="1277" actId="27636"/>
          <ac:spMkLst>
            <pc:docMk/>
            <pc:sldMk cId="2180739687" sldId="257"/>
            <ac:spMk id="3" creationId="{4312E516-2710-D31D-C75D-9603C3672821}"/>
          </ac:spMkLst>
        </pc:spChg>
      </pc:sldChg>
      <pc:sldChg chg="new del">
        <pc:chgData name="BHARGAVI N" userId="df6018a2982cc948" providerId="LiveId" clId="{14D67CA7-5D69-4536-9B59-AE316F97A74C}" dt="2025-03-07T11:57:15.199" v="28" actId="680"/>
        <pc:sldMkLst>
          <pc:docMk/>
          <pc:sldMk cId="3635392391" sldId="257"/>
        </pc:sldMkLst>
      </pc:sldChg>
      <pc:sldChg chg="modSp new mod">
        <pc:chgData name="BHARGAVI N" userId="df6018a2982cc948" providerId="LiveId" clId="{14D67CA7-5D69-4536-9B59-AE316F97A74C}" dt="2025-03-07T12:05:43.171" v="86" actId="20577"/>
        <pc:sldMkLst>
          <pc:docMk/>
          <pc:sldMk cId="4186377107" sldId="258"/>
        </pc:sldMkLst>
        <pc:spChg chg="mod">
          <ac:chgData name="BHARGAVI N" userId="df6018a2982cc948" providerId="LiveId" clId="{14D67CA7-5D69-4536-9B59-AE316F97A74C}" dt="2025-03-07T12:04:30.809" v="79" actId="2710"/>
          <ac:spMkLst>
            <pc:docMk/>
            <pc:sldMk cId="4186377107" sldId="258"/>
            <ac:spMk id="2" creationId="{6E754814-34DA-737B-644B-DEF96EEF8145}"/>
          </ac:spMkLst>
        </pc:spChg>
        <pc:spChg chg="mod">
          <ac:chgData name="BHARGAVI N" userId="df6018a2982cc948" providerId="LiveId" clId="{14D67CA7-5D69-4536-9B59-AE316F97A74C}" dt="2025-03-07T12:05:43.171" v="86" actId="20577"/>
          <ac:spMkLst>
            <pc:docMk/>
            <pc:sldMk cId="4186377107" sldId="258"/>
            <ac:spMk id="3" creationId="{A7932523-6B2A-2182-0055-D37C59A5559A}"/>
          </ac:spMkLst>
        </pc:spChg>
      </pc:sldChg>
      <pc:sldChg chg="modSp new mod">
        <pc:chgData name="BHARGAVI N" userId="df6018a2982cc948" providerId="LiveId" clId="{14D67CA7-5D69-4536-9B59-AE316F97A74C}" dt="2025-03-07T12:08:01.062" v="129" actId="403"/>
        <pc:sldMkLst>
          <pc:docMk/>
          <pc:sldMk cId="1130433253" sldId="259"/>
        </pc:sldMkLst>
        <pc:spChg chg="mod">
          <ac:chgData name="BHARGAVI N" userId="df6018a2982cc948" providerId="LiveId" clId="{14D67CA7-5D69-4536-9B59-AE316F97A74C}" dt="2025-03-07T12:06:17.528" v="107" actId="2710"/>
          <ac:spMkLst>
            <pc:docMk/>
            <pc:sldMk cId="1130433253" sldId="259"/>
            <ac:spMk id="2" creationId="{AEFF2A6C-8CA8-767A-05A1-2C37EDA6F564}"/>
          </ac:spMkLst>
        </pc:spChg>
        <pc:spChg chg="mod">
          <ac:chgData name="BHARGAVI N" userId="df6018a2982cc948" providerId="LiveId" clId="{14D67CA7-5D69-4536-9B59-AE316F97A74C}" dt="2025-03-07T12:08:01.062" v="129" actId="403"/>
          <ac:spMkLst>
            <pc:docMk/>
            <pc:sldMk cId="1130433253" sldId="259"/>
            <ac:spMk id="3" creationId="{8A370CA4-A322-41FC-D53E-5029519DFDE7}"/>
          </ac:spMkLst>
        </pc:spChg>
      </pc:sldChg>
      <pc:sldChg chg="addSp delSp modSp new mod">
        <pc:chgData name="BHARGAVI N" userId="df6018a2982cc948" providerId="LiveId" clId="{14D67CA7-5D69-4536-9B59-AE316F97A74C}" dt="2025-03-08T06:53:47.985" v="1284" actId="27636"/>
        <pc:sldMkLst>
          <pc:docMk/>
          <pc:sldMk cId="1790745876" sldId="260"/>
        </pc:sldMkLst>
        <pc:spChg chg="del">
          <ac:chgData name="BHARGAVI N" userId="df6018a2982cc948" providerId="LiveId" clId="{14D67CA7-5D69-4536-9B59-AE316F97A74C}" dt="2025-03-07T12:08:23.917" v="131" actId="21"/>
          <ac:spMkLst>
            <pc:docMk/>
            <pc:sldMk cId="1790745876" sldId="260"/>
            <ac:spMk id="2" creationId="{7B0D5D7C-1391-5AC5-5B12-553193ACD4C4}"/>
          </ac:spMkLst>
        </pc:spChg>
        <pc:spChg chg="mod">
          <ac:chgData name="BHARGAVI N" userId="df6018a2982cc948" providerId="LiveId" clId="{14D67CA7-5D69-4536-9B59-AE316F97A74C}" dt="2025-03-08T06:53:47.985" v="1284" actId="27636"/>
          <ac:spMkLst>
            <pc:docMk/>
            <pc:sldMk cId="1790745876" sldId="260"/>
            <ac:spMk id="3" creationId="{AAC53868-D872-9BF8-0A22-2A41F6DB3A65}"/>
          </ac:spMkLst>
        </pc:spChg>
        <pc:picChg chg="add mod">
          <ac:chgData name="BHARGAVI N" userId="df6018a2982cc948" providerId="LiveId" clId="{14D67CA7-5D69-4536-9B59-AE316F97A74C}" dt="2025-03-07T12:10:04.450" v="148" actId="14100"/>
          <ac:picMkLst>
            <pc:docMk/>
            <pc:sldMk cId="1790745876" sldId="260"/>
            <ac:picMk id="4" creationId="{1DD02E3D-F134-0B7D-4647-A5BEAF30FF38}"/>
          </ac:picMkLst>
        </pc:picChg>
      </pc:sldChg>
      <pc:sldChg chg="addSp delSp modSp new mod">
        <pc:chgData name="BHARGAVI N" userId="df6018a2982cc948" providerId="LiveId" clId="{14D67CA7-5D69-4536-9B59-AE316F97A74C}" dt="2025-03-07T12:12:45.979" v="181" actId="403"/>
        <pc:sldMkLst>
          <pc:docMk/>
          <pc:sldMk cId="3749363336" sldId="261"/>
        </pc:sldMkLst>
        <pc:spChg chg="mod">
          <ac:chgData name="BHARGAVI N" userId="df6018a2982cc948" providerId="LiveId" clId="{14D67CA7-5D69-4536-9B59-AE316F97A74C}" dt="2025-03-07T12:10:31" v="167" actId="2710"/>
          <ac:spMkLst>
            <pc:docMk/>
            <pc:sldMk cId="3749363336" sldId="261"/>
            <ac:spMk id="2" creationId="{60BD487C-0A56-55B1-EF7C-25FCB1F50AA7}"/>
          </ac:spMkLst>
        </pc:spChg>
        <pc:spChg chg="add del mod">
          <ac:chgData name="BHARGAVI N" userId="df6018a2982cc948" providerId="LiveId" clId="{14D67CA7-5D69-4536-9B59-AE316F97A74C}" dt="2025-03-07T12:12:45.979" v="181" actId="403"/>
          <ac:spMkLst>
            <pc:docMk/>
            <pc:sldMk cId="3749363336" sldId="261"/>
            <ac:spMk id="3" creationId="{DCDFB86F-AF0A-745E-AB3E-437F889AE955}"/>
          </ac:spMkLst>
        </pc:spChg>
        <pc:spChg chg="add mod">
          <ac:chgData name="BHARGAVI N" userId="df6018a2982cc948" providerId="LiveId" clId="{14D67CA7-5D69-4536-9B59-AE316F97A74C}" dt="2025-03-07T12:11:55.976" v="169"/>
          <ac:spMkLst>
            <pc:docMk/>
            <pc:sldMk cId="3749363336" sldId="261"/>
            <ac:spMk id="4" creationId="{AFFA3A15-6F68-E79F-C626-7DD7855AE65C}"/>
          </ac:spMkLst>
        </pc:spChg>
      </pc:sldChg>
      <pc:sldChg chg="addSp modSp new mod">
        <pc:chgData name="BHARGAVI N" userId="df6018a2982cc948" providerId="LiveId" clId="{14D67CA7-5D69-4536-9B59-AE316F97A74C}" dt="2025-03-07T12:14:58.176" v="216" actId="255"/>
        <pc:sldMkLst>
          <pc:docMk/>
          <pc:sldMk cId="3099983444" sldId="262"/>
        </pc:sldMkLst>
        <pc:spChg chg="mod">
          <ac:chgData name="BHARGAVI N" userId="df6018a2982cc948" providerId="LiveId" clId="{14D67CA7-5D69-4536-9B59-AE316F97A74C}" dt="2025-03-07T12:13:17.812" v="197" actId="2710"/>
          <ac:spMkLst>
            <pc:docMk/>
            <pc:sldMk cId="3099983444" sldId="262"/>
            <ac:spMk id="2" creationId="{874E0A64-DC4D-A263-D9D1-62E5EA70127C}"/>
          </ac:spMkLst>
        </pc:spChg>
        <pc:spChg chg="mod">
          <ac:chgData name="BHARGAVI N" userId="df6018a2982cc948" providerId="LiveId" clId="{14D67CA7-5D69-4536-9B59-AE316F97A74C}" dt="2025-03-07T12:14:58.176" v="216" actId="255"/>
          <ac:spMkLst>
            <pc:docMk/>
            <pc:sldMk cId="3099983444" sldId="262"/>
            <ac:spMk id="3" creationId="{9D2369B8-D132-4337-9E44-8E5CD049BEC9}"/>
          </ac:spMkLst>
        </pc:spChg>
        <pc:spChg chg="add">
          <ac:chgData name="BHARGAVI N" userId="df6018a2982cc948" providerId="LiveId" clId="{14D67CA7-5D69-4536-9B59-AE316F97A74C}" dt="2025-03-07T12:14:07.600" v="200"/>
          <ac:spMkLst>
            <pc:docMk/>
            <pc:sldMk cId="3099983444" sldId="262"/>
            <ac:spMk id="4" creationId="{AC3173AA-3E0B-E903-4D5E-D1424121A3E6}"/>
          </ac:spMkLst>
        </pc:spChg>
      </pc:sldChg>
      <pc:sldChg chg="addSp modSp new mod">
        <pc:chgData name="BHARGAVI N" userId="df6018a2982cc948" providerId="LiveId" clId="{14D67CA7-5D69-4536-9B59-AE316F97A74C}" dt="2025-03-07T12:43:35.431" v="340" actId="13238"/>
        <pc:sldMkLst>
          <pc:docMk/>
          <pc:sldMk cId="2244252413" sldId="263"/>
        </pc:sldMkLst>
        <pc:spChg chg="mod">
          <ac:chgData name="BHARGAVI N" userId="df6018a2982cc948" providerId="LiveId" clId="{14D67CA7-5D69-4536-9B59-AE316F97A74C}" dt="2025-03-07T12:15:31.212" v="242" actId="2710"/>
          <ac:spMkLst>
            <pc:docMk/>
            <pc:sldMk cId="2244252413" sldId="263"/>
            <ac:spMk id="2" creationId="{873260E1-4D08-252B-A219-D85E90A67AC7}"/>
          </ac:spMkLst>
        </pc:spChg>
        <pc:graphicFrameChg chg="add mod modGraphic">
          <ac:chgData name="BHARGAVI N" userId="df6018a2982cc948" providerId="LiveId" clId="{14D67CA7-5D69-4536-9B59-AE316F97A74C}" dt="2025-03-07T12:43:35.431" v="340" actId="13238"/>
          <ac:graphicFrameMkLst>
            <pc:docMk/>
            <pc:sldMk cId="2244252413" sldId="263"/>
            <ac:graphicFrameMk id="3" creationId="{1CBAFD5D-16F1-E69D-641B-BD97D87B28B6}"/>
          </ac:graphicFrameMkLst>
        </pc:graphicFrameChg>
      </pc:sldChg>
      <pc:sldChg chg="addSp modSp new mod">
        <pc:chgData name="BHARGAVI N" userId="df6018a2982cc948" providerId="LiveId" clId="{14D67CA7-5D69-4536-9B59-AE316F97A74C}" dt="2025-03-07T13:06:03.365" v="428" actId="255"/>
        <pc:sldMkLst>
          <pc:docMk/>
          <pc:sldMk cId="1343547253" sldId="264"/>
        </pc:sldMkLst>
        <pc:graphicFrameChg chg="add mod modGraphic">
          <ac:chgData name="BHARGAVI N" userId="df6018a2982cc948" providerId="LiveId" clId="{14D67CA7-5D69-4536-9B59-AE316F97A74C}" dt="2025-03-07T13:06:03.365" v="428" actId="255"/>
          <ac:graphicFrameMkLst>
            <pc:docMk/>
            <pc:sldMk cId="1343547253" sldId="264"/>
            <ac:graphicFrameMk id="2" creationId="{66DA57BB-6B97-4E10-997D-9A1A65BF1981}"/>
          </ac:graphicFrameMkLst>
        </pc:graphicFrameChg>
      </pc:sldChg>
      <pc:sldChg chg="addSp modSp new mod">
        <pc:chgData name="BHARGAVI N" userId="df6018a2982cc948" providerId="LiveId" clId="{14D67CA7-5D69-4536-9B59-AE316F97A74C}" dt="2025-03-07T13:06:44.216" v="435" actId="255"/>
        <pc:sldMkLst>
          <pc:docMk/>
          <pc:sldMk cId="696625658" sldId="265"/>
        </pc:sldMkLst>
        <pc:graphicFrameChg chg="add mod modGraphic">
          <ac:chgData name="BHARGAVI N" userId="df6018a2982cc948" providerId="LiveId" clId="{14D67CA7-5D69-4536-9B59-AE316F97A74C}" dt="2025-03-07T13:06:44.216" v="435" actId="255"/>
          <ac:graphicFrameMkLst>
            <pc:docMk/>
            <pc:sldMk cId="696625658" sldId="265"/>
            <ac:graphicFrameMk id="2" creationId="{6A69D94D-D91D-6C59-A6CB-EB1522A83B10}"/>
          </ac:graphicFrameMkLst>
        </pc:graphicFrameChg>
      </pc:sldChg>
      <pc:sldChg chg="addSp modSp new mod">
        <pc:chgData name="BHARGAVI N" userId="df6018a2982cc948" providerId="LiveId" clId="{14D67CA7-5D69-4536-9B59-AE316F97A74C}" dt="2025-03-07T13:16:18.293" v="472" actId="255"/>
        <pc:sldMkLst>
          <pc:docMk/>
          <pc:sldMk cId="1871970435" sldId="266"/>
        </pc:sldMkLst>
        <pc:graphicFrameChg chg="add mod modGraphic">
          <ac:chgData name="BHARGAVI N" userId="df6018a2982cc948" providerId="LiveId" clId="{14D67CA7-5D69-4536-9B59-AE316F97A74C}" dt="2025-03-07T13:16:18.293" v="472" actId="255"/>
          <ac:graphicFrameMkLst>
            <pc:docMk/>
            <pc:sldMk cId="1871970435" sldId="266"/>
            <ac:graphicFrameMk id="2" creationId="{84A7613F-498C-FCEB-023E-5A4D1D2D1705}"/>
          </ac:graphicFrameMkLst>
        </pc:graphicFrameChg>
      </pc:sldChg>
      <pc:sldChg chg="addSp modSp new mod">
        <pc:chgData name="BHARGAVI N" userId="df6018a2982cc948" providerId="LiveId" clId="{14D67CA7-5D69-4536-9B59-AE316F97A74C}" dt="2025-03-08T05:33:27.002" v="508" actId="255"/>
        <pc:sldMkLst>
          <pc:docMk/>
          <pc:sldMk cId="642480679" sldId="267"/>
        </pc:sldMkLst>
        <pc:graphicFrameChg chg="add mod modGraphic">
          <ac:chgData name="BHARGAVI N" userId="df6018a2982cc948" providerId="LiveId" clId="{14D67CA7-5D69-4536-9B59-AE316F97A74C}" dt="2025-03-08T05:33:27.002" v="508" actId="255"/>
          <ac:graphicFrameMkLst>
            <pc:docMk/>
            <pc:sldMk cId="642480679" sldId="267"/>
            <ac:graphicFrameMk id="2" creationId="{E8CB3624-6622-48A0-9B1C-A1D74318C43A}"/>
          </ac:graphicFrameMkLst>
        </pc:graphicFrameChg>
      </pc:sldChg>
      <pc:sldChg chg="modSp new mod">
        <pc:chgData name="BHARGAVI N" userId="df6018a2982cc948" providerId="LiveId" clId="{14D67CA7-5D69-4536-9B59-AE316F97A74C}" dt="2025-03-08T05:37:54.024" v="556" actId="14100"/>
        <pc:sldMkLst>
          <pc:docMk/>
          <pc:sldMk cId="113692922" sldId="268"/>
        </pc:sldMkLst>
        <pc:spChg chg="mod">
          <ac:chgData name="BHARGAVI N" userId="df6018a2982cc948" providerId="LiveId" clId="{14D67CA7-5D69-4536-9B59-AE316F97A74C}" dt="2025-03-08T05:34:25.186" v="531" actId="113"/>
          <ac:spMkLst>
            <pc:docMk/>
            <pc:sldMk cId="113692922" sldId="268"/>
            <ac:spMk id="2" creationId="{277085E9-707C-21C9-9D0C-DB1A09E84DB0}"/>
          </ac:spMkLst>
        </pc:spChg>
        <pc:spChg chg="mod">
          <ac:chgData name="BHARGAVI N" userId="df6018a2982cc948" providerId="LiveId" clId="{14D67CA7-5D69-4536-9B59-AE316F97A74C}" dt="2025-03-08T05:37:54.024" v="556" actId="14100"/>
          <ac:spMkLst>
            <pc:docMk/>
            <pc:sldMk cId="113692922" sldId="268"/>
            <ac:spMk id="3" creationId="{FF51A058-8C9F-3C3D-3AFD-7AD79BBC88F7}"/>
          </ac:spMkLst>
        </pc:spChg>
      </pc:sldChg>
      <pc:sldChg chg="addSp delSp modSp new mod">
        <pc:chgData name="BHARGAVI N" userId="df6018a2982cc948" providerId="LiveId" clId="{14D67CA7-5D69-4536-9B59-AE316F97A74C}" dt="2025-03-08T05:41:09.153" v="593" actId="14100"/>
        <pc:sldMkLst>
          <pc:docMk/>
          <pc:sldMk cId="1231768638" sldId="269"/>
        </pc:sldMkLst>
        <pc:spChg chg="del">
          <ac:chgData name="BHARGAVI N" userId="df6018a2982cc948" providerId="LiveId" clId="{14D67CA7-5D69-4536-9B59-AE316F97A74C}" dt="2025-03-08T05:39:01.089" v="559" actId="21"/>
          <ac:spMkLst>
            <pc:docMk/>
            <pc:sldMk cId="1231768638" sldId="269"/>
            <ac:spMk id="2" creationId="{86CF1460-F91E-7723-FBEE-8C19AC5D5375}"/>
          </ac:spMkLst>
        </pc:spChg>
        <pc:spChg chg="mod">
          <ac:chgData name="BHARGAVI N" userId="df6018a2982cc948" providerId="LiveId" clId="{14D67CA7-5D69-4536-9B59-AE316F97A74C}" dt="2025-03-08T05:40:29.879" v="588" actId="255"/>
          <ac:spMkLst>
            <pc:docMk/>
            <pc:sldMk cId="1231768638" sldId="269"/>
            <ac:spMk id="3" creationId="{4ABA7DAF-BB8C-90C8-16DA-49914B8DAB6D}"/>
          </ac:spMkLst>
        </pc:spChg>
        <pc:picChg chg="add mod">
          <ac:chgData name="BHARGAVI N" userId="df6018a2982cc948" providerId="LiveId" clId="{14D67CA7-5D69-4536-9B59-AE316F97A74C}" dt="2025-03-08T05:41:09.153" v="593" actId="14100"/>
          <ac:picMkLst>
            <pc:docMk/>
            <pc:sldMk cId="1231768638" sldId="269"/>
            <ac:picMk id="4" creationId="{08DEB499-7F46-993D-6D90-D994742703AD}"/>
          </ac:picMkLst>
        </pc:picChg>
      </pc:sldChg>
      <pc:sldChg chg="modSp new mod">
        <pc:chgData name="BHARGAVI N" userId="df6018a2982cc948" providerId="LiveId" clId="{14D67CA7-5D69-4536-9B59-AE316F97A74C}" dt="2025-03-08T05:46:16.487" v="633" actId="403"/>
        <pc:sldMkLst>
          <pc:docMk/>
          <pc:sldMk cId="3366986579" sldId="270"/>
        </pc:sldMkLst>
        <pc:spChg chg="mod">
          <ac:chgData name="BHARGAVI N" userId="df6018a2982cc948" providerId="LiveId" clId="{14D67CA7-5D69-4536-9B59-AE316F97A74C}" dt="2025-03-08T05:42:23.719" v="617" actId="2710"/>
          <ac:spMkLst>
            <pc:docMk/>
            <pc:sldMk cId="3366986579" sldId="270"/>
            <ac:spMk id="2" creationId="{67294DDC-4FA2-1A44-E4FE-34B0310B2899}"/>
          </ac:spMkLst>
        </pc:spChg>
        <pc:spChg chg="mod">
          <ac:chgData name="BHARGAVI N" userId="df6018a2982cc948" providerId="LiveId" clId="{14D67CA7-5D69-4536-9B59-AE316F97A74C}" dt="2025-03-08T05:46:16.487" v="633" actId="403"/>
          <ac:spMkLst>
            <pc:docMk/>
            <pc:sldMk cId="3366986579" sldId="270"/>
            <ac:spMk id="3" creationId="{FFBE15AA-92AD-7496-6ED0-B9C99BB94C64}"/>
          </ac:spMkLst>
        </pc:spChg>
      </pc:sldChg>
      <pc:sldChg chg="delSp modSp new mod">
        <pc:chgData name="BHARGAVI N" userId="df6018a2982cc948" providerId="LiveId" clId="{14D67CA7-5D69-4536-9B59-AE316F97A74C}" dt="2025-03-08T05:49:42.890" v="662" actId="14100"/>
        <pc:sldMkLst>
          <pc:docMk/>
          <pc:sldMk cId="917312882" sldId="271"/>
        </pc:sldMkLst>
        <pc:spChg chg="del">
          <ac:chgData name="BHARGAVI N" userId="df6018a2982cc948" providerId="LiveId" clId="{14D67CA7-5D69-4536-9B59-AE316F97A74C}" dt="2025-03-08T05:46:34.454" v="635" actId="21"/>
          <ac:spMkLst>
            <pc:docMk/>
            <pc:sldMk cId="917312882" sldId="271"/>
            <ac:spMk id="2" creationId="{C276BC1E-4CB1-9945-BE49-BD5D8970ACF5}"/>
          </ac:spMkLst>
        </pc:spChg>
        <pc:spChg chg="mod">
          <ac:chgData name="BHARGAVI N" userId="df6018a2982cc948" providerId="LiveId" clId="{14D67CA7-5D69-4536-9B59-AE316F97A74C}" dt="2025-03-08T05:49:42.890" v="662" actId="14100"/>
          <ac:spMkLst>
            <pc:docMk/>
            <pc:sldMk cId="917312882" sldId="271"/>
            <ac:spMk id="3" creationId="{BA3B6BC0-E5EE-8C51-1DDE-9B0ED614CD33}"/>
          </ac:spMkLst>
        </pc:spChg>
      </pc:sldChg>
      <pc:sldChg chg="addSp delSp modSp new mod">
        <pc:chgData name="BHARGAVI N" userId="df6018a2982cc948" providerId="LiveId" clId="{14D67CA7-5D69-4536-9B59-AE316F97A74C}" dt="2025-03-08T05:52:24.797" v="703" actId="2710"/>
        <pc:sldMkLst>
          <pc:docMk/>
          <pc:sldMk cId="1933204934" sldId="272"/>
        </pc:sldMkLst>
        <pc:spChg chg="mod">
          <ac:chgData name="BHARGAVI N" userId="df6018a2982cc948" providerId="LiveId" clId="{14D67CA7-5D69-4536-9B59-AE316F97A74C}" dt="2025-03-08T05:50:28.013" v="685" actId="27636"/>
          <ac:spMkLst>
            <pc:docMk/>
            <pc:sldMk cId="1933204934" sldId="272"/>
            <ac:spMk id="2" creationId="{AA26C8D8-19E7-FD00-14AD-DC2CF28700A8}"/>
          </ac:spMkLst>
        </pc:spChg>
        <pc:spChg chg="del">
          <ac:chgData name="BHARGAVI N" userId="df6018a2982cc948" providerId="LiveId" clId="{14D67CA7-5D69-4536-9B59-AE316F97A74C}" dt="2025-03-08T05:50:59.946" v="690" actId="931"/>
          <ac:spMkLst>
            <pc:docMk/>
            <pc:sldMk cId="1933204934" sldId="272"/>
            <ac:spMk id="3" creationId="{F527DA28-E718-B7C4-5AAF-BDC715901E2C}"/>
          </ac:spMkLst>
        </pc:spChg>
        <pc:spChg chg="mod">
          <ac:chgData name="BHARGAVI N" userId="df6018a2982cc948" providerId="LiveId" clId="{14D67CA7-5D69-4536-9B59-AE316F97A74C}" dt="2025-03-08T05:52:24.797" v="703" actId="2710"/>
          <ac:spMkLst>
            <pc:docMk/>
            <pc:sldMk cId="1933204934" sldId="272"/>
            <ac:spMk id="4" creationId="{42829D89-5A26-4CC4-8A3C-2D131B9093CB}"/>
          </ac:spMkLst>
        </pc:spChg>
        <pc:picChg chg="add mod modCrop">
          <ac:chgData name="BHARGAVI N" userId="df6018a2982cc948" providerId="LiveId" clId="{14D67CA7-5D69-4536-9B59-AE316F97A74C}" dt="2025-03-08T05:51:38.546" v="696" actId="14100"/>
          <ac:picMkLst>
            <pc:docMk/>
            <pc:sldMk cId="1933204934" sldId="272"/>
            <ac:picMk id="6" creationId="{F9ED4409-2C06-FF8E-CDBF-1C21FA5F8129}"/>
          </ac:picMkLst>
        </pc:picChg>
      </pc:sldChg>
      <pc:sldChg chg="addSp delSp modSp new mod">
        <pc:chgData name="BHARGAVI N" userId="df6018a2982cc948" providerId="LiveId" clId="{14D67CA7-5D69-4536-9B59-AE316F97A74C}" dt="2025-03-08T05:58:48.943" v="744" actId="27636"/>
        <pc:sldMkLst>
          <pc:docMk/>
          <pc:sldMk cId="2044762207" sldId="273"/>
        </pc:sldMkLst>
        <pc:spChg chg="mod">
          <ac:chgData name="BHARGAVI N" userId="df6018a2982cc948" providerId="LiveId" clId="{14D67CA7-5D69-4536-9B59-AE316F97A74C}" dt="2025-03-08T05:53:09.234" v="725" actId="14100"/>
          <ac:spMkLst>
            <pc:docMk/>
            <pc:sldMk cId="2044762207" sldId="273"/>
            <ac:spMk id="2" creationId="{F949DCB4-95E2-3C45-B18D-454086D40C9E}"/>
          </ac:spMkLst>
        </pc:spChg>
        <pc:spChg chg="del">
          <ac:chgData name="BHARGAVI N" userId="df6018a2982cc948" providerId="LiveId" clId="{14D67CA7-5D69-4536-9B59-AE316F97A74C}" dt="2025-03-08T05:56:32.664" v="730" actId="931"/>
          <ac:spMkLst>
            <pc:docMk/>
            <pc:sldMk cId="2044762207" sldId="273"/>
            <ac:spMk id="3" creationId="{76BBE98F-421B-5A52-9ADD-EFD3BA7F3823}"/>
          </ac:spMkLst>
        </pc:spChg>
        <pc:spChg chg="mod">
          <ac:chgData name="BHARGAVI N" userId="df6018a2982cc948" providerId="LiveId" clId="{14D67CA7-5D69-4536-9B59-AE316F97A74C}" dt="2025-03-08T05:58:48.943" v="744" actId="27636"/>
          <ac:spMkLst>
            <pc:docMk/>
            <pc:sldMk cId="2044762207" sldId="273"/>
            <ac:spMk id="4" creationId="{D7D238C8-D744-541B-0849-75D68F10805E}"/>
          </ac:spMkLst>
        </pc:spChg>
        <pc:picChg chg="add mod modCrop">
          <ac:chgData name="BHARGAVI N" userId="df6018a2982cc948" providerId="LiveId" clId="{14D67CA7-5D69-4536-9B59-AE316F97A74C}" dt="2025-03-08T05:57:56.502" v="734" actId="14100"/>
          <ac:picMkLst>
            <pc:docMk/>
            <pc:sldMk cId="2044762207" sldId="273"/>
            <ac:picMk id="6" creationId="{BA87E6D9-390B-7F34-7148-7393937BB956}"/>
          </ac:picMkLst>
        </pc:picChg>
      </pc:sldChg>
      <pc:sldChg chg="addSp delSp modSp new mod">
        <pc:chgData name="BHARGAVI N" userId="df6018a2982cc948" providerId="LiveId" clId="{14D67CA7-5D69-4536-9B59-AE316F97A74C}" dt="2025-03-08T06:02:02.537" v="790" actId="20577"/>
        <pc:sldMkLst>
          <pc:docMk/>
          <pc:sldMk cId="3992164977" sldId="274"/>
        </pc:sldMkLst>
        <pc:spChg chg="mod">
          <ac:chgData name="BHARGAVI N" userId="df6018a2982cc948" providerId="LiveId" clId="{14D67CA7-5D69-4536-9B59-AE316F97A74C}" dt="2025-03-08T05:59:27.979" v="772" actId="14100"/>
          <ac:spMkLst>
            <pc:docMk/>
            <pc:sldMk cId="3992164977" sldId="274"/>
            <ac:spMk id="2" creationId="{D09977E5-4D62-9F53-258B-1C117D10ACCD}"/>
          </ac:spMkLst>
        </pc:spChg>
        <pc:spChg chg="del">
          <ac:chgData name="BHARGAVI N" userId="df6018a2982cc948" providerId="LiveId" clId="{14D67CA7-5D69-4536-9B59-AE316F97A74C}" dt="2025-03-08T05:59:52.418" v="777" actId="931"/>
          <ac:spMkLst>
            <pc:docMk/>
            <pc:sldMk cId="3992164977" sldId="274"/>
            <ac:spMk id="3" creationId="{703512A8-0AD5-406C-8320-84B5F787E1FC}"/>
          </ac:spMkLst>
        </pc:spChg>
        <pc:spChg chg="mod">
          <ac:chgData name="BHARGAVI N" userId="df6018a2982cc948" providerId="LiveId" clId="{14D67CA7-5D69-4536-9B59-AE316F97A74C}" dt="2025-03-08T06:02:02.537" v="790" actId="20577"/>
          <ac:spMkLst>
            <pc:docMk/>
            <pc:sldMk cId="3992164977" sldId="274"/>
            <ac:spMk id="4" creationId="{3BF6FD1C-0EFE-F90A-777E-E00D8EC6DF9D}"/>
          </ac:spMkLst>
        </pc:spChg>
        <pc:picChg chg="add mod modCrop">
          <ac:chgData name="BHARGAVI N" userId="df6018a2982cc948" providerId="LiveId" clId="{14D67CA7-5D69-4536-9B59-AE316F97A74C}" dt="2025-03-08T06:00:18.862" v="781" actId="14100"/>
          <ac:picMkLst>
            <pc:docMk/>
            <pc:sldMk cId="3992164977" sldId="274"/>
            <ac:picMk id="6" creationId="{025CCBFB-C9BB-A6F8-BC21-A099F3CD6B9C}"/>
          </ac:picMkLst>
        </pc:picChg>
      </pc:sldChg>
      <pc:sldChg chg="addSp delSp modSp new mod">
        <pc:chgData name="BHARGAVI N" userId="df6018a2982cc948" providerId="LiveId" clId="{14D67CA7-5D69-4536-9B59-AE316F97A74C}" dt="2025-03-08T06:05:05.171" v="842" actId="20577"/>
        <pc:sldMkLst>
          <pc:docMk/>
          <pc:sldMk cId="932170510" sldId="275"/>
        </pc:sldMkLst>
        <pc:spChg chg="mod">
          <ac:chgData name="BHARGAVI N" userId="df6018a2982cc948" providerId="LiveId" clId="{14D67CA7-5D69-4536-9B59-AE316F97A74C}" dt="2025-03-08T06:03:00.885" v="824" actId="14100"/>
          <ac:spMkLst>
            <pc:docMk/>
            <pc:sldMk cId="932170510" sldId="275"/>
            <ac:spMk id="2" creationId="{D478F335-D3AF-5AAB-6959-AC592CAD09E1}"/>
          </ac:spMkLst>
        </pc:spChg>
        <pc:spChg chg="del">
          <ac:chgData name="BHARGAVI N" userId="df6018a2982cc948" providerId="LiveId" clId="{14D67CA7-5D69-4536-9B59-AE316F97A74C}" dt="2025-03-08T06:03:26.493" v="829" actId="931"/>
          <ac:spMkLst>
            <pc:docMk/>
            <pc:sldMk cId="932170510" sldId="275"/>
            <ac:spMk id="3" creationId="{014311B0-8BA6-A4EC-AF35-30F63B5C8524}"/>
          </ac:spMkLst>
        </pc:spChg>
        <pc:spChg chg="mod">
          <ac:chgData name="BHARGAVI N" userId="df6018a2982cc948" providerId="LiveId" clId="{14D67CA7-5D69-4536-9B59-AE316F97A74C}" dt="2025-03-08T06:05:05.171" v="842" actId="20577"/>
          <ac:spMkLst>
            <pc:docMk/>
            <pc:sldMk cId="932170510" sldId="275"/>
            <ac:spMk id="4" creationId="{13788012-A5DA-A274-A6F5-3BAEB03E25E1}"/>
          </ac:spMkLst>
        </pc:spChg>
        <pc:picChg chg="add mod modCrop">
          <ac:chgData name="BHARGAVI N" userId="df6018a2982cc948" providerId="LiveId" clId="{14D67CA7-5D69-4536-9B59-AE316F97A74C}" dt="2025-03-08T06:04:03.283" v="834" actId="14100"/>
          <ac:picMkLst>
            <pc:docMk/>
            <pc:sldMk cId="932170510" sldId="275"/>
            <ac:picMk id="6" creationId="{0F8835D0-BDD6-3132-9523-6167F10914AC}"/>
          </ac:picMkLst>
        </pc:picChg>
      </pc:sldChg>
      <pc:sldChg chg="modSp new mod">
        <pc:chgData name="BHARGAVI N" userId="df6018a2982cc948" providerId="LiveId" clId="{14D67CA7-5D69-4536-9B59-AE316F97A74C}" dt="2025-03-08T06:14:49.344" v="906" actId="113"/>
        <pc:sldMkLst>
          <pc:docMk/>
          <pc:sldMk cId="1658977520" sldId="276"/>
        </pc:sldMkLst>
        <pc:spChg chg="mod">
          <ac:chgData name="BHARGAVI N" userId="df6018a2982cc948" providerId="LiveId" clId="{14D67CA7-5D69-4536-9B59-AE316F97A74C}" dt="2025-03-08T06:05:38.042" v="872" actId="113"/>
          <ac:spMkLst>
            <pc:docMk/>
            <pc:sldMk cId="1658977520" sldId="276"/>
            <ac:spMk id="2" creationId="{7A7BDAAB-09E9-2BDD-9976-03AC6F074ED1}"/>
          </ac:spMkLst>
        </pc:spChg>
        <pc:spChg chg="mod">
          <ac:chgData name="BHARGAVI N" userId="df6018a2982cc948" providerId="LiveId" clId="{14D67CA7-5D69-4536-9B59-AE316F97A74C}" dt="2025-03-08T06:14:49.344" v="906" actId="113"/>
          <ac:spMkLst>
            <pc:docMk/>
            <pc:sldMk cId="1658977520" sldId="276"/>
            <ac:spMk id="3" creationId="{4AA99AB9-DCBF-2931-3011-45BC533987F7}"/>
          </ac:spMkLst>
        </pc:spChg>
      </pc:sldChg>
      <pc:sldChg chg="addSp delSp modSp new mod">
        <pc:chgData name="BHARGAVI N" userId="df6018a2982cc948" providerId="LiveId" clId="{14D67CA7-5D69-4536-9B59-AE316F97A74C}" dt="2025-03-08T06:22:13.358" v="937" actId="255"/>
        <pc:sldMkLst>
          <pc:docMk/>
          <pc:sldMk cId="1800899900" sldId="277"/>
        </pc:sldMkLst>
        <pc:spChg chg="mod">
          <ac:chgData name="BHARGAVI N" userId="df6018a2982cc948" providerId="LiveId" clId="{14D67CA7-5D69-4536-9B59-AE316F97A74C}" dt="2025-03-08T06:16:19.714" v="922" actId="2710"/>
          <ac:spMkLst>
            <pc:docMk/>
            <pc:sldMk cId="1800899900" sldId="277"/>
            <ac:spMk id="2" creationId="{4CAA556F-8ABA-B714-7F9D-14030C7335AC}"/>
          </ac:spMkLst>
        </pc:spChg>
        <pc:spChg chg="del">
          <ac:chgData name="BHARGAVI N" userId="df6018a2982cc948" providerId="LiveId" clId="{14D67CA7-5D69-4536-9B59-AE316F97A74C}" dt="2025-03-08T06:18:19.121" v="923" actId="931"/>
          <ac:spMkLst>
            <pc:docMk/>
            <pc:sldMk cId="1800899900" sldId="277"/>
            <ac:spMk id="3" creationId="{B46DFD5B-2036-5C5D-BF5D-6DD7B47040BB}"/>
          </ac:spMkLst>
        </pc:spChg>
        <pc:spChg chg="mod">
          <ac:chgData name="BHARGAVI N" userId="df6018a2982cc948" providerId="LiveId" clId="{14D67CA7-5D69-4536-9B59-AE316F97A74C}" dt="2025-03-08T06:22:13.358" v="937" actId="255"/>
          <ac:spMkLst>
            <pc:docMk/>
            <pc:sldMk cId="1800899900" sldId="277"/>
            <ac:spMk id="4" creationId="{EEA77564-0143-04C7-123E-A5B98B5484D1}"/>
          </ac:spMkLst>
        </pc:spChg>
        <pc:picChg chg="add mod">
          <ac:chgData name="BHARGAVI N" userId="df6018a2982cc948" providerId="LiveId" clId="{14D67CA7-5D69-4536-9B59-AE316F97A74C}" dt="2025-03-08T06:18:33.510" v="926" actId="14100"/>
          <ac:picMkLst>
            <pc:docMk/>
            <pc:sldMk cId="1800899900" sldId="277"/>
            <ac:picMk id="6" creationId="{B085828C-019B-5259-68C2-77B0C7153F82}"/>
          </ac:picMkLst>
        </pc:picChg>
      </pc:sldChg>
      <pc:sldChg chg="addSp delSp modSp new mod">
        <pc:chgData name="BHARGAVI N" userId="df6018a2982cc948" providerId="LiveId" clId="{14D67CA7-5D69-4536-9B59-AE316F97A74C}" dt="2025-03-08T06:26:10.263" v="960" actId="14100"/>
        <pc:sldMkLst>
          <pc:docMk/>
          <pc:sldMk cId="2281524517" sldId="278"/>
        </pc:sldMkLst>
        <pc:spChg chg="del">
          <ac:chgData name="BHARGAVI N" userId="df6018a2982cc948" providerId="LiveId" clId="{14D67CA7-5D69-4536-9B59-AE316F97A74C}" dt="2025-03-08T06:22:58.239" v="939" actId="21"/>
          <ac:spMkLst>
            <pc:docMk/>
            <pc:sldMk cId="2281524517" sldId="278"/>
            <ac:spMk id="2" creationId="{B5C0A9A8-F136-AF18-BE2B-070C67C37EE9}"/>
          </ac:spMkLst>
        </pc:spChg>
        <pc:spChg chg="mod">
          <ac:chgData name="BHARGAVI N" userId="df6018a2982cc948" providerId="LiveId" clId="{14D67CA7-5D69-4536-9B59-AE316F97A74C}" dt="2025-03-08T06:25:29.387" v="952" actId="255"/>
          <ac:spMkLst>
            <pc:docMk/>
            <pc:sldMk cId="2281524517" sldId="278"/>
            <ac:spMk id="3" creationId="{4017E9C9-5EE1-EB48-F966-9CA8A3766A76}"/>
          </ac:spMkLst>
        </pc:spChg>
        <pc:spChg chg="del">
          <ac:chgData name="BHARGAVI N" userId="df6018a2982cc948" providerId="LiveId" clId="{14D67CA7-5D69-4536-9B59-AE316F97A74C}" dt="2025-03-08T06:23:03.921" v="940" actId="931"/>
          <ac:spMkLst>
            <pc:docMk/>
            <pc:sldMk cId="2281524517" sldId="278"/>
            <ac:spMk id="4" creationId="{CB554EAA-3A88-306E-3A10-E3D1D1527D66}"/>
          </ac:spMkLst>
        </pc:spChg>
        <pc:picChg chg="add mod">
          <ac:chgData name="BHARGAVI N" userId="df6018a2982cc948" providerId="LiveId" clId="{14D67CA7-5D69-4536-9B59-AE316F97A74C}" dt="2025-03-08T06:26:10.263" v="960" actId="14100"/>
          <ac:picMkLst>
            <pc:docMk/>
            <pc:sldMk cId="2281524517" sldId="278"/>
            <ac:picMk id="6" creationId="{001D81AB-38C9-C09C-8A72-60441FB18FA2}"/>
          </ac:picMkLst>
        </pc:picChg>
      </pc:sldChg>
      <pc:sldChg chg="addSp delSp modSp new mod">
        <pc:chgData name="BHARGAVI N" userId="df6018a2982cc948" providerId="LiveId" clId="{14D67CA7-5D69-4536-9B59-AE316F97A74C}" dt="2025-03-08T06:27:22.678" v="970" actId="403"/>
        <pc:sldMkLst>
          <pc:docMk/>
          <pc:sldMk cId="4106186708" sldId="279"/>
        </pc:sldMkLst>
        <pc:spChg chg="del">
          <ac:chgData name="BHARGAVI N" userId="df6018a2982cc948" providerId="LiveId" clId="{14D67CA7-5D69-4536-9B59-AE316F97A74C}" dt="2025-03-08T06:25:43.673" v="954" actId="21"/>
          <ac:spMkLst>
            <pc:docMk/>
            <pc:sldMk cId="4106186708" sldId="279"/>
            <ac:spMk id="2" creationId="{9FA88428-0640-4C8F-7AD5-FCD3D4FC580F}"/>
          </ac:spMkLst>
        </pc:spChg>
        <pc:spChg chg="del">
          <ac:chgData name="BHARGAVI N" userId="df6018a2982cc948" providerId="LiveId" clId="{14D67CA7-5D69-4536-9B59-AE316F97A74C}" dt="2025-03-08T06:25:48.633" v="955" actId="931"/>
          <ac:spMkLst>
            <pc:docMk/>
            <pc:sldMk cId="4106186708" sldId="279"/>
            <ac:spMk id="3" creationId="{8F247468-2267-97E6-66C4-D75394E84E7B}"/>
          </ac:spMkLst>
        </pc:spChg>
        <pc:spChg chg="mod">
          <ac:chgData name="BHARGAVI N" userId="df6018a2982cc948" providerId="LiveId" clId="{14D67CA7-5D69-4536-9B59-AE316F97A74C}" dt="2025-03-08T06:27:22.678" v="970" actId="403"/>
          <ac:spMkLst>
            <pc:docMk/>
            <pc:sldMk cId="4106186708" sldId="279"/>
            <ac:spMk id="4" creationId="{366DBCD0-A77B-DF57-3E54-646D1FE9A005}"/>
          </ac:spMkLst>
        </pc:spChg>
        <pc:picChg chg="add mod">
          <ac:chgData name="BHARGAVI N" userId="df6018a2982cc948" providerId="LiveId" clId="{14D67CA7-5D69-4536-9B59-AE316F97A74C}" dt="2025-03-08T06:26:01.236" v="958" actId="14100"/>
          <ac:picMkLst>
            <pc:docMk/>
            <pc:sldMk cId="4106186708" sldId="279"/>
            <ac:picMk id="6" creationId="{40AEA973-AF97-4206-79C9-A34324C6C3AB}"/>
          </ac:picMkLst>
        </pc:picChg>
      </pc:sldChg>
      <pc:sldChg chg="addSp delSp modSp new mod">
        <pc:chgData name="BHARGAVI N" userId="df6018a2982cc948" providerId="LiveId" clId="{14D67CA7-5D69-4536-9B59-AE316F97A74C}" dt="2025-03-08T06:30:20.830" v="983" actId="14100"/>
        <pc:sldMkLst>
          <pc:docMk/>
          <pc:sldMk cId="1017485899" sldId="280"/>
        </pc:sldMkLst>
        <pc:spChg chg="del">
          <ac:chgData name="BHARGAVI N" userId="df6018a2982cc948" providerId="LiveId" clId="{14D67CA7-5D69-4536-9B59-AE316F97A74C}" dt="2025-03-08T06:27:37.575" v="972" actId="21"/>
          <ac:spMkLst>
            <pc:docMk/>
            <pc:sldMk cId="1017485899" sldId="280"/>
            <ac:spMk id="2" creationId="{E4D21A65-DAAC-2BBD-A672-CB121DFB512A}"/>
          </ac:spMkLst>
        </pc:spChg>
        <pc:spChg chg="mod">
          <ac:chgData name="BHARGAVI N" userId="df6018a2982cc948" providerId="LiveId" clId="{14D67CA7-5D69-4536-9B59-AE316F97A74C}" dt="2025-03-08T06:30:20.830" v="983" actId="14100"/>
          <ac:spMkLst>
            <pc:docMk/>
            <pc:sldMk cId="1017485899" sldId="280"/>
            <ac:spMk id="3" creationId="{F01B52BD-1459-3998-9654-2B4FDC9418FE}"/>
          </ac:spMkLst>
        </pc:spChg>
        <pc:spChg chg="del">
          <ac:chgData name="BHARGAVI N" userId="df6018a2982cc948" providerId="LiveId" clId="{14D67CA7-5D69-4536-9B59-AE316F97A74C}" dt="2025-03-08T06:27:42.597" v="973" actId="931"/>
          <ac:spMkLst>
            <pc:docMk/>
            <pc:sldMk cId="1017485899" sldId="280"/>
            <ac:spMk id="4" creationId="{5C02F985-EA7F-89EF-DA4D-515B4552BC84}"/>
          </ac:spMkLst>
        </pc:spChg>
        <pc:picChg chg="add mod">
          <ac:chgData name="BHARGAVI N" userId="df6018a2982cc948" providerId="LiveId" clId="{14D67CA7-5D69-4536-9B59-AE316F97A74C}" dt="2025-03-08T06:27:42.597" v="973" actId="931"/>
          <ac:picMkLst>
            <pc:docMk/>
            <pc:sldMk cId="1017485899" sldId="280"/>
            <ac:picMk id="6" creationId="{F68D00C1-CBC6-9DFB-D3B7-7846A60717AA}"/>
          </ac:picMkLst>
        </pc:picChg>
      </pc:sldChg>
      <pc:sldChg chg="modSp new mod">
        <pc:chgData name="BHARGAVI N" userId="df6018a2982cc948" providerId="LiveId" clId="{14D67CA7-5D69-4536-9B59-AE316F97A74C}" dt="2025-03-08T06:32:14.258" v="1014" actId="403"/>
        <pc:sldMkLst>
          <pc:docMk/>
          <pc:sldMk cId="2420933632" sldId="281"/>
        </pc:sldMkLst>
        <pc:spChg chg="mod">
          <ac:chgData name="BHARGAVI N" userId="df6018a2982cc948" providerId="LiveId" clId="{14D67CA7-5D69-4536-9B59-AE316F97A74C}" dt="2025-03-08T06:30:57.356" v="1003" actId="2710"/>
          <ac:spMkLst>
            <pc:docMk/>
            <pc:sldMk cId="2420933632" sldId="281"/>
            <ac:spMk id="2" creationId="{E5466D57-7D08-C330-36E4-0D08011E3836}"/>
          </ac:spMkLst>
        </pc:spChg>
        <pc:spChg chg="mod">
          <ac:chgData name="BHARGAVI N" userId="df6018a2982cc948" providerId="LiveId" clId="{14D67CA7-5D69-4536-9B59-AE316F97A74C}" dt="2025-03-08T06:32:14.258" v="1014" actId="403"/>
          <ac:spMkLst>
            <pc:docMk/>
            <pc:sldMk cId="2420933632" sldId="281"/>
            <ac:spMk id="3" creationId="{1326FB54-3181-84A3-7F9C-E862BB3ED450}"/>
          </ac:spMkLst>
        </pc:spChg>
      </pc:sldChg>
      <pc:sldChg chg="modSp new mod">
        <pc:chgData name="BHARGAVI N" userId="df6018a2982cc948" providerId="LiveId" clId="{14D67CA7-5D69-4536-9B59-AE316F97A74C}" dt="2025-03-08T06:34:24.747" v="1048" actId="403"/>
        <pc:sldMkLst>
          <pc:docMk/>
          <pc:sldMk cId="1999643586" sldId="282"/>
        </pc:sldMkLst>
        <pc:spChg chg="mod">
          <ac:chgData name="BHARGAVI N" userId="df6018a2982cc948" providerId="LiveId" clId="{14D67CA7-5D69-4536-9B59-AE316F97A74C}" dt="2025-03-08T06:32:45.059" v="1035" actId="113"/>
          <ac:spMkLst>
            <pc:docMk/>
            <pc:sldMk cId="1999643586" sldId="282"/>
            <ac:spMk id="2" creationId="{C44CFC70-DE0D-7CB6-4BF5-08B7F96BB25B}"/>
          </ac:spMkLst>
        </pc:spChg>
        <pc:spChg chg="mod">
          <ac:chgData name="BHARGAVI N" userId="df6018a2982cc948" providerId="LiveId" clId="{14D67CA7-5D69-4536-9B59-AE316F97A74C}" dt="2025-03-08T06:34:24.747" v="1048" actId="403"/>
          <ac:spMkLst>
            <pc:docMk/>
            <pc:sldMk cId="1999643586" sldId="282"/>
            <ac:spMk id="3" creationId="{138256D1-8E72-0330-6B2B-1DA993EB9CE5}"/>
          </ac:spMkLst>
        </pc:spChg>
      </pc:sldChg>
      <pc:sldChg chg="modSp new mod">
        <pc:chgData name="BHARGAVI N" userId="df6018a2982cc948" providerId="LiveId" clId="{14D67CA7-5D69-4536-9B59-AE316F97A74C}" dt="2025-03-08T06:37:18.092" v="1088" actId="255"/>
        <pc:sldMkLst>
          <pc:docMk/>
          <pc:sldMk cId="3713005101" sldId="283"/>
        </pc:sldMkLst>
        <pc:spChg chg="mod">
          <ac:chgData name="BHARGAVI N" userId="df6018a2982cc948" providerId="LiveId" clId="{14D67CA7-5D69-4536-9B59-AE316F97A74C}" dt="2025-03-08T06:34:51.421" v="1067" actId="2710"/>
          <ac:spMkLst>
            <pc:docMk/>
            <pc:sldMk cId="3713005101" sldId="283"/>
            <ac:spMk id="2" creationId="{1ACF39B3-4F4A-BB5C-2659-1448DC2DFBB5}"/>
          </ac:spMkLst>
        </pc:spChg>
        <pc:spChg chg="mod">
          <ac:chgData name="BHARGAVI N" userId="df6018a2982cc948" providerId="LiveId" clId="{14D67CA7-5D69-4536-9B59-AE316F97A74C}" dt="2025-03-08T06:37:18.092" v="1088" actId="255"/>
          <ac:spMkLst>
            <pc:docMk/>
            <pc:sldMk cId="3713005101" sldId="283"/>
            <ac:spMk id="3" creationId="{93913A5F-0D9E-7C66-2E21-64A08168CE6E}"/>
          </ac:spMkLst>
        </pc:spChg>
      </pc:sldChg>
      <pc:sldChg chg="delSp modSp new mod">
        <pc:chgData name="BHARGAVI N" userId="df6018a2982cc948" providerId="LiveId" clId="{14D67CA7-5D69-4536-9B59-AE316F97A74C}" dt="2025-03-08T06:44:40.172" v="1105" actId="11"/>
        <pc:sldMkLst>
          <pc:docMk/>
          <pc:sldMk cId="2507511954" sldId="284"/>
        </pc:sldMkLst>
        <pc:spChg chg="del">
          <ac:chgData name="BHARGAVI N" userId="df6018a2982cc948" providerId="LiveId" clId="{14D67CA7-5D69-4536-9B59-AE316F97A74C}" dt="2025-03-08T06:38:04.773" v="1090" actId="21"/>
          <ac:spMkLst>
            <pc:docMk/>
            <pc:sldMk cId="2507511954" sldId="284"/>
            <ac:spMk id="2" creationId="{30178FD3-19EE-00B9-61D5-6F9A9C7CB30A}"/>
          </ac:spMkLst>
        </pc:spChg>
        <pc:spChg chg="mod">
          <ac:chgData name="BHARGAVI N" userId="df6018a2982cc948" providerId="LiveId" clId="{14D67CA7-5D69-4536-9B59-AE316F97A74C}" dt="2025-03-08T06:44:40.172" v="1105" actId="11"/>
          <ac:spMkLst>
            <pc:docMk/>
            <pc:sldMk cId="2507511954" sldId="284"/>
            <ac:spMk id="3" creationId="{B7FB6A24-6E0F-6E53-9EC0-D129F2AAB39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A2887A8-8335-4161-BEE7-EB46B5805E10}" type="datetimeFigureOut">
              <a:rPr lang="en-IN" smtClean="0"/>
              <a:t>08-03-2025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A36E5-8672-4021-AFDD-0192955639A6}"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150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2887A8-8335-4161-BEE7-EB46B5805E10}" type="datetimeFigureOut">
              <a:rPr lang="en-IN" smtClean="0"/>
              <a:t>08-03-2025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A36E5-8672-4021-AFDD-0192955639A6}" type="slidenum">
              <a:rPr lang="en-IN" smtClean="0"/>
              <a:t>‹#›</a:t>
            </a:fld>
            <a:endParaRPr lang="en-IN"/>
          </a:p>
        </p:txBody>
      </p:sp>
    </p:spTree>
    <p:extLst>
      <p:ext uri="{BB962C8B-B14F-4D97-AF65-F5344CB8AC3E}">
        <p14:creationId xmlns:p14="http://schemas.microsoft.com/office/powerpoint/2010/main" val="2969061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2887A8-8335-4161-BEE7-EB46B5805E10}" type="datetimeFigureOut">
              <a:rPr lang="en-IN" smtClean="0"/>
              <a:t>08-03-2025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A36E5-8672-4021-AFDD-0192955639A6}"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7592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2887A8-8335-4161-BEE7-EB46B5805E10}" type="datetimeFigureOut">
              <a:rPr lang="en-IN" smtClean="0"/>
              <a:t>08-03-2025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9A36E5-8672-4021-AFDD-0192955639A6}" type="slidenum">
              <a:rPr lang="en-IN" smtClean="0"/>
              <a:t>‹#›</a:t>
            </a:fld>
            <a:endParaRPr lang="en-IN"/>
          </a:p>
        </p:txBody>
      </p:sp>
    </p:spTree>
    <p:extLst>
      <p:ext uri="{BB962C8B-B14F-4D97-AF65-F5344CB8AC3E}">
        <p14:creationId xmlns:p14="http://schemas.microsoft.com/office/powerpoint/2010/main" val="661598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A2887A8-8335-4161-BEE7-EB46B5805E10}" type="datetimeFigureOut">
              <a:rPr lang="en-IN" smtClean="0"/>
              <a:t>08-03-2025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9A36E5-8672-4021-AFDD-0192955639A6}" type="slidenum">
              <a:rPr lang="en-IN" smtClean="0"/>
              <a:t>‹#›</a:t>
            </a:fld>
            <a:endParaRPr lang="en-IN"/>
          </a:p>
        </p:txBody>
      </p:sp>
    </p:spTree>
    <p:extLst>
      <p:ext uri="{BB962C8B-B14F-4D97-AF65-F5344CB8AC3E}">
        <p14:creationId xmlns:p14="http://schemas.microsoft.com/office/powerpoint/2010/main" val="224013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A2887A8-8335-4161-BEE7-EB46B5805E10}" type="datetimeFigureOut">
              <a:rPr lang="en-IN" smtClean="0"/>
              <a:t>08-03-2025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9A36E5-8672-4021-AFDD-0192955639A6}" type="slidenum">
              <a:rPr lang="en-IN" smtClean="0"/>
              <a:t>‹#›</a:t>
            </a:fld>
            <a:endParaRPr lang="en-IN"/>
          </a:p>
        </p:txBody>
      </p:sp>
    </p:spTree>
    <p:extLst>
      <p:ext uri="{BB962C8B-B14F-4D97-AF65-F5344CB8AC3E}">
        <p14:creationId xmlns:p14="http://schemas.microsoft.com/office/powerpoint/2010/main" val="3171626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A2887A8-8335-4161-BEE7-EB46B5805E10}" type="datetimeFigureOut">
              <a:rPr lang="en-IN" smtClean="0"/>
              <a:t>08-03-2025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6D9A36E5-8672-4021-AFDD-0192955639A6}" type="slidenum">
              <a:rPr lang="en-IN" smtClean="0"/>
              <a:t>‹#›</a:t>
            </a:fld>
            <a:endParaRPr lang="en-IN"/>
          </a:p>
        </p:txBody>
      </p:sp>
    </p:spTree>
    <p:extLst>
      <p:ext uri="{BB962C8B-B14F-4D97-AF65-F5344CB8AC3E}">
        <p14:creationId xmlns:p14="http://schemas.microsoft.com/office/powerpoint/2010/main" val="2244096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A2887A8-8335-4161-BEE7-EB46B5805E10}" type="datetimeFigureOut">
              <a:rPr lang="en-IN" smtClean="0"/>
              <a:t>08-03-2025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9A36E5-8672-4021-AFDD-0192955639A6}" type="slidenum">
              <a:rPr lang="en-IN" smtClean="0"/>
              <a:t>‹#›</a:t>
            </a:fld>
            <a:endParaRPr lang="en-IN"/>
          </a:p>
        </p:txBody>
      </p:sp>
    </p:spTree>
    <p:extLst>
      <p:ext uri="{BB962C8B-B14F-4D97-AF65-F5344CB8AC3E}">
        <p14:creationId xmlns:p14="http://schemas.microsoft.com/office/powerpoint/2010/main" val="3230037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2887A8-8335-4161-BEE7-EB46B5805E10}" type="datetimeFigureOut">
              <a:rPr lang="en-IN" smtClean="0"/>
              <a:t>08-03-2025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9A36E5-8672-4021-AFDD-0192955639A6}" type="slidenum">
              <a:rPr lang="en-IN" smtClean="0"/>
              <a:t>‹#›</a:t>
            </a:fld>
            <a:endParaRPr lang="en-IN"/>
          </a:p>
        </p:txBody>
      </p:sp>
    </p:spTree>
    <p:extLst>
      <p:ext uri="{BB962C8B-B14F-4D97-AF65-F5344CB8AC3E}">
        <p14:creationId xmlns:p14="http://schemas.microsoft.com/office/powerpoint/2010/main" val="4179920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2887A8-8335-4161-BEE7-EB46B5805E10}" type="datetimeFigureOut">
              <a:rPr lang="en-IN" smtClean="0"/>
              <a:t>08-03-2025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A36E5-8672-4021-AFDD-0192955639A6}" type="slidenum">
              <a:rPr lang="en-IN" smtClean="0"/>
              <a:t>‹#›</a:t>
            </a:fld>
            <a:endParaRPr lang="en-IN"/>
          </a:p>
        </p:txBody>
      </p:sp>
    </p:spTree>
    <p:extLst>
      <p:ext uri="{BB962C8B-B14F-4D97-AF65-F5344CB8AC3E}">
        <p14:creationId xmlns:p14="http://schemas.microsoft.com/office/powerpoint/2010/main" val="1874034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2887A8-8335-4161-BEE7-EB46B5805E10}" type="datetimeFigureOut">
              <a:rPr lang="en-IN" smtClean="0"/>
              <a:t>08-03-2025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A36E5-8672-4021-AFDD-0192955639A6}" type="slidenum">
              <a:rPr lang="en-IN" smtClean="0"/>
              <a:t>‹#›</a:t>
            </a:fld>
            <a:endParaRPr lang="en-IN"/>
          </a:p>
        </p:txBody>
      </p:sp>
    </p:spTree>
    <p:extLst>
      <p:ext uri="{BB962C8B-B14F-4D97-AF65-F5344CB8AC3E}">
        <p14:creationId xmlns:p14="http://schemas.microsoft.com/office/powerpoint/2010/main" val="12870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A2887A8-8335-4161-BEE7-EB46B5805E10}" type="datetimeFigureOut">
              <a:rPr lang="en-IN" smtClean="0"/>
              <a:t>08-03-2025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9A36E5-8672-4021-AFDD-0192955639A6}"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134971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477E6-D845-0A38-643C-FC878E9E4F4A}"/>
              </a:ext>
            </a:extLst>
          </p:cNvPr>
          <p:cNvSpPr>
            <a:spLocks noGrp="1"/>
          </p:cNvSpPr>
          <p:nvPr>
            <p:ph type="ctrTitle"/>
          </p:nvPr>
        </p:nvSpPr>
        <p:spPr/>
        <p:txBody>
          <a:bodyPr>
            <a:normAutofit/>
          </a:bodyPr>
          <a:lstStyle/>
          <a:p>
            <a:pPr algn="ctr">
              <a:lnSpc>
                <a:spcPct val="150000"/>
              </a:lnSpc>
            </a:pPr>
            <a:r>
              <a:rPr lang="en-IN" sz="3600" b="1" dirty="0">
                <a:effectLst/>
                <a:latin typeface="Times New Roman" panose="02020603050405020304" pitchFamily="18" charset="0"/>
                <a:ea typeface="Calibri" panose="020F0502020204030204" pitchFamily="34" charset="0"/>
              </a:rPr>
              <a:t>Strategic Forecasting of Customer Lifetime Value: Enhancing Business Insights Through Predictive Analytics</a:t>
            </a:r>
            <a:endParaRPr lang="en-IN" sz="16600" b="1" dirty="0"/>
          </a:p>
        </p:txBody>
      </p:sp>
    </p:spTree>
    <p:extLst>
      <p:ext uri="{BB962C8B-B14F-4D97-AF65-F5344CB8AC3E}">
        <p14:creationId xmlns:p14="http://schemas.microsoft.com/office/powerpoint/2010/main" val="1654587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5EA1-D3ED-FCDE-9554-4F7D53B3726C}"/>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CONTENTS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12E516-2710-D31D-C75D-9603C3672821}"/>
              </a:ext>
            </a:extLst>
          </p:cNvPr>
          <p:cNvSpPr>
            <a:spLocks noGrp="1"/>
          </p:cNvSpPr>
          <p:nvPr>
            <p:ph idx="1"/>
          </p:nvPr>
        </p:nvSpPr>
        <p:spPr>
          <a:xfrm>
            <a:off x="1097280" y="1845734"/>
            <a:ext cx="10058400" cy="4407582"/>
          </a:xfrm>
        </p:spPr>
        <p:txBody>
          <a:bodyPr>
            <a:normAutofit/>
          </a:bodyPr>
          <a:lstStyle/>
          <a:p>
            <a:pPr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ABSTRACT</a:t>
            </a:r>
          </a:p>
          <a:p>
            <a:pPr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INTRODUCTION</a:t>
            </a:r>
          </a:p>
          <a:p>
            <a:pPr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LITERATURE SURVEY</a:t>
            </a:r>
          </a:p>
          <a:p>
            <a:pPr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EXISTING &amp; PROPOSED SYSTEM</a:t>
            </a:r>
          </a:p>
          <a:p>
            <a:pPr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SOFTWARE REQUIREMENTS</a:t>
            </a:r>
          </a:p>
          <a:p>
            <a:pPr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RESULTS</a:t>
            </a:r>
          </a:p>
          <a:p>
            <a:pPr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CONCLUSION</a:t>
            </a:r>
          </a:p>
          <a:p>
            <a:pPr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REFERENCES</a:t>
            </a:r>
          </a:p>
          <a:p>
            <a:pPr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0739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4814-34DA-737B-644B-DEF96EEF8145}"/>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ABSTRACT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7932523-6B2A-2182-0055-D37C59A5559A}"/>
              </a:ext>
            </a:extLst>
          </p:cNvPr>
          <p:cNvSpPr>
            <a:spLocks noGrp="1"/>
          </p:cNvSpPr>
          <p:nvPr>
            <p:ph idx="1"/>
          </p:nvPr>
        </p:nvSpPr>
        <p:spPr/>
        <p:txBody>
          <a:bodyPr/>
          <a:lstStyle/>
          <a:p>
            <a:pPr marL="201168" lvl="1" indent="0" algn="just">
              <a:lnSpc>
                <a:spcPct val="150000"/>
              </a:lnSpc>
              <a:buNone/>
            </a:pP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201168" lvl="1" indent="0" algn="just">
              <a:lnSpc>
                <a:spcPct val="150000"/>
              </a:lnSpc>
              <a:buNone/>
            </a:pPr>
            <a:r>
              <a:rPr lang="en-IN" sz="1600" dirty="0">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This study focuses on modelling Customer Lifetime Value (CLV) to assist businesses in optimizing customer relationship management (CRM). By leveraging the BG/NBD and Gamma-Gamma probabilistic models, the expected number of transactions, customer retention probabilities, and monetary value per transaction are calculated. Data preprocessing involves cleansing and aggregating key features such as recency, frequency, and monetary value. Exploratory data analysis (EDA) highlights patterns in transactions and customer behaviour. This approach enables segmentation of customers based on CLV, helping businesses prioritize high-value clients and refine retention strategies. The analysis underscores the importance of retaining existing customers to reduce costs and maximize revenue.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IN" dirty="0"/>
          </a:p>
        </p:txBody>
      </p:sp>
    </p:spTree>
    <p:extLst>
      <p:ext uri="{BB962C8B-B14F-4D97-AF65-F5344CB8AC3E}">
        <p14:creationId xmlns:p14="http://schemas.microsoft.com/office/powerpoint/2010/main" val="4186377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F2A6C-8CA8-767A-05A1-2C37EDA6F564}"/>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370CA4-A322-41FC-D53E-5029519DFDE7}"/>
              </a:ext>
            </a:extLst>
          </p:cNvPr>
          <p:cNvSpPr>
            <a:spLocks noGrp="1"/>
          </p:cNvSpPr>
          <p:nvPr>
            <p:ph idx="1"/>
          </p:nvPr>
        </p:nvSpPr>
        <p:spPr>
          <a:xfrm>
            <a:off x="304800" y="1845733"/>
            <a:ext cx="11680723" cy="4437079"/>
          </a:xfrm>
        </p:spPr>
        <p:txBody>
          <a:bodyPr>
            <a:normAutofit/>
          </a:bodyPr>
          <a:lstStyle/>
          <a:p>
            <a:pPr marL="201168" lvl="1" indent="0" algn="just">
              <a:lnSpc>
                <a:spcPct val="150000"/>
              </a:lnSpc>
              <a:buNone/>
            </a:pPr>
            <a:r>
              <a:rPr lang="en-IN" sz="1600" dirty="0">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Customer Lifetime Value (CLV) is a crucial metric in modern business strategy that quantifies the total revenue a company can expect from a single customer throughout their entire relationship. Unlike short-term sales metrics, which focus on immediate transactions, CLV provides a long-term perspective on customer profitability, helping businesses make informed decisions about marketing, customer retention, and overall business growth. By understanding CLV, companies can identify their most valuable customers, optimize their marketing spend, and implement targeted strategies to maximize customer engagement and loyalty.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201168" lvl="1" indent="0" algn="just">
              <a:lnSpc>
                <a:spcPct val="150000"/>
              </a:lnSpc>
              <a:buNone/>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	In today’s data-driven landscape, businesses recognize that acquiring new customers is often more expensive than retaining existing ones. This makes CLV an essential component of customer relationship management (CRM) and strategic planning. A high CLV indicates strong customer loyalty and sustained revenue generation, while a low CLV may signal issues with customer retention, product satisfaction, or competitive positioning. Companies use CLV insights to allocate resources effectively, ensuring they invest in the right customers and maximize profitability over time.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IN" dirty="0"/>
          </a:p>
        </p:txBody>
      </p:sp>
    </p:spTree>
    <p:extLst>
      <p:ext uri="{BB962C8B-B14F-4D97-AF65-F5344CB8AC3E}">
        <p14:creationId xmlns:p14="http://schemas.microsoft.com/office/powerpoint/2010/main" val="1130433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C53868-D872-9BF8-0A22-2A41F6DB3A65}"/>
              </a:ext>
            </a:extLst>
          </p:cNvPr>
          <p:cNvSpPr>
            <a:spLocks noGrp="1"/>
          </p:cNvSpPr>
          <p:nvPr>
            <p:ph idx="1"/>
          </p:nvPr>
        </p:nvSpPr>
        <p:spPr>
          <a:xfrm>
            <a:off x="727587" y="1845733"/>
            <a:ext cx="5093109" cy="4378085"/>
          </a:xfrm>
        </p:spPr>
        <p:txBody>
          <a:bodyPr>
            <a:normAutofit fontScale="92500" lnSpcReduction="10000"/>
          </a:bodyPr>
          <a:lstStyle/>
          <a:p>
            <a:pPr marL="201168" lvl="1" indent="0" algn="just">
              <a:lnSpc>
                <a:spcPct val="160000"/>
              </a:lnSpc>
              <a:buNone/>
            </a:pP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201168" lvl="1" indent="0" algn="just">
              <a:lnSpc>
                <a:spcPct val="160000"/>
              </a:lnSpc>
              <a:buNone/>
            </a:pPr>
            <a:r>
              <a:rPr lang="en-IN" sz="1600" dirty="0">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The calculation of CLV involves analysing various factors such as purchase frequency, average order value, retention rate, and customer acquisition cost. Traditionally, businesses relied on historical data to estimate CLV, but with advancements in predictive analytics, machine learning, and artificial intelligence (AI), companies can now forecast CLV with greater accuracy. These advanced techniques enable businesses to anticipate customer behaviours, personalize marketing efforts, and enhance customer experiences, ultimately leading to higher retention rates and increased revenue.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60000"/>
              </a:lnSpc>
            </a:pPr>
            <a:endParaRPr lang="en-IN" dirty="0"/>
          </a:p>
        </p:txBody>
      </p:sp>
      <p:pic>
        <p:nvPicPr>
          <p:cNvPr id="4" name="Picture 3">
            <a:extLst>
              <a:ext uri="{FF2B5EF4-FFF2-40B4-BE49-F238E27FC236}">
                <a16:creationId xmlns:a16="http://schemas.microsoft.com/office/drawing/2014/main" id="{1DD02E3D-F134-0B7D-4647-A5BEAF30FF3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5999" y="1927123"/>
            <a:ext cx="5456903" cy="4108809"/>
          </a:xfrm>
          <a:prstGeom prst="rect">
            <a:avLst/>
          </a:prstGeom>
          <a:noFill/>
          <a:ln>
            <a:noFill/>
          </a:ln>
        </p:spPr>
      </p:pic>
    </p:spTree>
    <p:extLst>
      <p:ext uri="{BB962C8B-B14F-4D97-AF65-F5344CB8AC3E}">
        <p14:creationId xmlns:p14="http://schemas.microsoft.com/office/powerpoint/2010/main" val="1790745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487C-0A56-55B1-EF7C-25FCB1F50AA7}"/>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OBJECTIVE </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DFB86F-AF0A-745E-AB3E-437F889AE955}"/>
              </a:ext>
            </a:extLst>
          </p:cNvPr>
          <p:cNvSpPr>
            <a:spLocks noGrp="1"/>
          </p:cNvSpPr>
          <p:nvPr>
            <p:ph idx="1"/>
          </p:nvPr>
        </p:nvSpPr>
        <p:spPr/>
        <p:txBody>
          <a:bodyPr>
            <a:normAutofit/>
          </a:bodyPr>
          <a:lstStyle/>
          <a:p>
            <a:pPr marL="201168" lvl="1" indent="0" algn="just">
              <a:lnSpc>
                <a:spcPct val="150000"/>
              </a:lnSpc>
              <a:buNone/>
            </a:pPr>
            <a:r>
              <a:rPr lang="en-US" sz="1600" dirty="0">
                <a:latin typeface="Times New Roman" panose="02020603050405020304" pitchFamily="18" charset="0"/>
                <a:cs typeface="Times New Roman" panose="02020603050405020304" pitchFamily="18" charset="0"/>
              </a:rPr>
              <a:t>	</a:t>
            </a:r>
          </a:p>
          <a:p>
            <a:pPr marL="201168" lvl="1" indent="0" algn="just">
              <a:lnSpc>
                <a:spcPct val="150000"/>
              </a:lnSpc>
              <a:buNone/>
            </a:pPr>
            <a:r>
              <a:rPr lang="en-US" sz="1600" dirty="0">
                <a:latin typeface="Times New Roman" panose="02020603050405020304" pitchFamily="18" charset="0"/>
                <a:cs typeface="Times New Roman" panose="02020603050405020304" pitchFamily="18" charset="0"/>
              </a:rPr>
              <a:t>	This study aims to develop a strategic forecasting model for Customer Lifetime Value (CLV) using predictive analytics. By applying the BG/NBD and Gamma-Gamma probabilistic models, the research seeks to estimate customer transaction frequency, retention probabilities, and monetary value per transaction. The objective is to enhance customer relationship management (CRM) by enabling businesses to segment customers based on CLV, prioritize high-value clients, and refine retention strategies. Through data preprocessing and exploratory data analysis (EDA), the study provides actionable insights to optimize revenue and reduce customer acquisition costs.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9363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E0A64-DC4D-A263-D9D1-62E5EA70127C}"/>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SCOPE</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D2369B8-D132-4337-9E44-8E5CD049BEC9}"/>
              </a:ext>
            </a:extLst>
          </p:cNvPr>
          <p:cNvSpPr>
            <a:spLocks noGrp="1"/>
          </p:cNvSpPr>
          <p:nvPr>
            <p:ph idx="1"/>
          </p:nvPr>
        </p:nvSpPr>
        <p:spPr/>
        <p:txBody>
          <a:bodyPr>
            <a:normAutofit/>
          </a:bodyPr>
          <a:lstStyle/>
          <a:p>
            <a:pPr algn="just">
              <a:lnSpc>
                <a:spcPct val="150000"/>
              </a:lnSpc>
            </a:pPr>
            <a:endParaRPr lang="en-US" sz="1600" dirty="0">
              <a:latin typeface="Times New Roman" panose="02020603050405020304" pitchFamily="18" charset="0"/>
              <a:cs typeface="Times New Roman" panose="02020603050405020304" pitchFamily="18" charset="0"/>
            </a:endParaRPr>
          </a:p>
          <a:p>
            <a:pPr marL="201168" lvl="1"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marL="201168" lvl="1" indent="0" algn="just">
              <a:lnSpc>
                <a:spcPct val="150000"/>
              </a:lnSpc>
              <a:buNone/>
            </a:pPr>
            <a:r>
              <a:rPr lang="en-US" sz="1600" dirty="0">
                <a:latin typeface="Times New Roman" panose="02020603050405020304" pitchFamily="18" charset="0"/>
                <a:cs typeface="Times New Roman" panose="02020603050405020304" pitchFamily="18" charset="0"/>
              </a:rPr>
              <a:t>	This study explores the application of predictive analytics to forecast Customer Lifetime Value (CLV), aiding businesses in strategic decision-making. It focuses on utilizing the BG/NBD and Gamma-Gamma models to estimate customer retention, transaction frequency, and monetary value. The research covers data preprocessing techniques, including cleansing and feature aggregation, alongside exploratory data analysis to identify transaction patterns. Additionally, it examines customer segmentation based on CLV to optimize retention strategies and resource allocation. The findings provide actionable insights for businesses to enhance customer relationship management, reduce churn, and maximize revenue through data-driven decision-making.</a:t>
            </a:r>
          </a:p>
        </p:txBody>
      </p:sp>
    </p:spTree>
    <p:extLst>
      <p:ext uri="{BB962C8B-B14F-4D97-AF65-F5344CB8AC3E}">
        <p14:creationId xmlns:p14="http://schemas.microsoft.com/office/powerpoint/2010/main" val="3099983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260E1-4D08-252B-A219-D85E90A67AC7}"/>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LITERATURE SURVEY</a:t>
            </a:r>
            <a:endParaRPr lang="en-IN" sz="32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CBAFD5D-16F1-E69D-641B-BD97D87B28B6}"/>
              </a:ext>
            </a:extLst>
          </p:cNvPr>
          <p:cNvGraphicFramePr>
            <a:graphicFrameLocks noGrp="1"/>
          </p:cNvGraphicFramePr>
          <p:nvPr>
            <p:extLst>
              <p:ext uri="{D42A27DB-BD31-4B8C-83A1-F6EECF244321}">
                <p14:modId xmlns:p14="http://schemas.microsoft.com/office/powerpoint/2010/main" val="1657860091"/>
              </p:ext>
            </p:extLst>
          </p:nvPr>
        </p:nvGraphicFramePr>
        <p:xfrm>
          <a:off x="717755" y="1936954"/>
          <a:ext cx="10795820" cy="4336027"/>
        </p:xfrm>
        <a:graphic>
          <a:graphicData uri="http://schemas.openxmlformats.org/drawingml/2006/table">
            <a:tbl>
              <a:tblPr firstRow="1" bandRow="1">
                <a:tableStyleId>{21E4AEA4-8DFA-4A89-87EB-49C32662AFE0}</a:tableStyleId>
              </a:tblPr>
              <a:tblGrid>
                <a:gridCol w="2159164">
                  <a:extLst>
                    <a:ext uri="{9D8B030D-6E8A-4147-A177-3AD203B41FA5}">
                      <a16:colId xmlns:a16="http://schemas.microsoft.com/office/drawing/2014/main" val="195007046"/>
                    </a:ext>
                  </a:extLst>
                </a:gridCol>
                <a:gridCol w="2159164">
                  <a:extLst>
                    <a:ext uri="{9D8B030D-6E8A-4147-A177-3AD203B41FA5}">
                      <a16:colId xmlns:a16="http://schemas.microsoft.com/office/drawing/2014/main" val="3315601066"/>
                    </a:ext>
                  </a:extLst>
                </a:gridCol>
                <a:gridCol w="2159164">
                  <a:extLst>
                    <a:ext uri="{9D8B030D-6E8A-4147-A177-3AD203B41FA5}">
                      <a16:colId xmlns:a16="http://schemas.microsoft.com/office/drawing/2014/main" val="2996389021"/>
                    </a:ext>
                  </a:extLst>
                </a:gridCol>
                <a:gridCol w="2159164">
                  <a:extLst>
                    <a:ext uri="{9D8B030D-6E8A-4147-A177-3AD203B41FA5}">
                      <a16:colId xmlns:a16="http://schemas.microsoft.com/office/drawing/2014/main" val="145752105"/>
                    </a:ext>
                  </a:extLst>
                </a:gridCol>
                <a:gridCol w="2159164">
                  <a:extLst>
                    <a:ext uri="{9D8B030D-6E8A-4147-A177-3AD203B41FA5}">
                      <a16:colId xmlns:a16="http://schemas.microsoft.com/office/drawing/2014/main" val="2769300145"/>
                    </a:ext>
                  </a:extLst>
                </a:gridCol>
              </a:tblGrid>
              <a:tr h="1369102">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Title</a:t>
                      </a:r>
                    </a:p>
                    <a:p>
                      <a:pPr algn="ctr">
                        <a:lnSpc>
                          <a:spcPct val="150000"/>
                        </a:lnSpc>
                      </a:pPr>
                      <a:r>
                        <a:rPr lang="en-IN" sz="1600" b="1" dirty="0">
                          <a:latin typeface="Times New Roman" panose="02020603050405020304" pitchFamily="18" charset="0"/>
                          <a:cs typeface="Times New Roman" panose="02020603050405020304" pitchFamily="18" charset="0"/>
                        </a:rPr>
                        <a:t>&amp;</a:t>
                      </a:r>
                    </a:p>
                    <a:p>
                      <a:pPr algn="ctr">
                        <a:lnSpc>
                          <a:spcPct val="150000"/>
                        </a:lnSpc>
                      </a:pPr>
                      <a:r>
                        <a:rPr lang="en-IN" sz="1600" b="1" dirty="0">
                          <a:latin typeface="Times New Roman" panose="02020603050405020304" pitchFamily="18" charset="0"/>
                          <a:cs typeface="Times New Roman" panose="02020603050405020304" pitchFamily="18" charset="0"/>
                        </a:rPr>
                        <a:t>Authors</a:t>
                      </a:r>
                    </a:p>
                  </a:txBody>
                  <a:tcPr/>
                </a:tc>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Methodology</a:t>
                      </a:r>
                    </a:p>
                    <a:p>
                      <a:pPr algn="ctr">
                        <a:lnSpc>
                          <a:spcPct val="150000"/>
                        </a:lnSpc>
                      </a:pPr>
                      <a:r>
                        <a:rPr lang="en-IN" sz="1600" b="1" dirty="0">
                          <a:latin typeface="Times New Roman" panose="02020603050405020304" pitchFamily="18" charset="0"/>
                          <a:cs typeface="Times New Roman" panose="02020603050405020304" pitchFamily="18" charset="0"/>
                        </a:rPr>
                        <a:t> (Data Format)</a:t>
                      </a:r>
                    </a:p>
                  </a:txBody>
                  <a:tcPr/>
                </a:tc>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Proposed </a:t>
                      </a:r>
                    </a:p>
                    <a:p>
                      <a:pPr algn="ctr">
                        <a:lnSpc>
                          <a:spcPct val="150000"/>
                        </a:lnSpc>
                      </a:pPr>
                      <a:r>
                        <a:rPr lang="en-IN" sz="1600" b="1" dirty="0">
                          <a:latin typeface="Times New Roman" panose="02020603050405020304" pitchFamily="18" charset="0"/>
                          <a:cs typeface="Times New Roman" panose="02020603050405020304" pitchFamily="18" charset="0"/>
                        </a:rPr>
                        <a:t>System</a:t>
                      </a:r>
                    </a:p>
                  </a:txBody>
                  <a:tcPr anchor="ct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Cons</a:t>
                      </a:r>
                    </a:p>
                  </a:txBody>
                  <a:tcP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Conclusion</a:t>
                      </a:r>
                    </a:p>
                  </a:txBody>
                  <a:tcPr/>
                </a:tc>
                <a:extLst>
                  <a:ext uri="{0D108BD9-81ED-4DB2-BD59-A6C34878D82A}">
                    <a16:rowId xmlns:a16="http://schemas.microsoft.com/office/drawing/2014/main" val="820261169"/>
                  </a:ext>
                </a:extLst>
              </a:tr>
              <a:tr h="2966925">
                <a:tc>
                  <a:txBody>
                    <a:bodyPr/>
                    <a:lstStyle/>
                    <a:p>
                      <a:pPr algn="ctr">
                        <a:lnSpc>
                          <a:spcPct val="150000"/>
                        </a:lnSpc>
                      </a:pPr>
                      <a:r>
                        <a:rPr lang="en-US"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 Strategic Forecasting of Customer Lifetime Value: Enhancing Business Insights Through Predictive Analytics</a:t>
                      </a:r>
                    </a:p>
                    <a:p>
                      <a:pPr algn="ctr">
                        <a:lnSpc>
                          <a:spcPct val="150000"/>
                        </a:lnSpc>
                      </a:pPr>
                      <a:r>
                        <a:rPr lang="sv-SE" sz="1400" b="1" dirty="0">
                          <a:latin typeface="Times New Roman" panose="02020603050405020304" pitchFamily="18" charset="0"/>
                          <a:cs typeface="Times New Roman" panose="02020603050405020304" pitchFamily="18" charset="0"/>
                        </a:rPr>
                        <a:t>AUTHOR:</a:t>
                      </a:r>
                    </a:p>
                    <a:p>
                      <a:pPr algn="ctr">
                        <a:lnSpc>
                          <a:spcPct val="150000"/>
                        </a:lnSpc>
                      </a:pPr>
                      <a:r>
                        <a:rPr lang="sv-SE" sz="1400" dirty="0">
                          <a:latin typeface="Times New Roman" panose="02020603050405020304" pitchFamily="18" charset="0"/>
                          <a:cs typeface="Times New Roman" panose="02020603050405020304" pitchFamily="18" charset="0"/>
                        </a:rPr>
                        <a:t>A. Mammadzada, E. Alasgarov, A. Mammadov</a:t>
                      </a:r>
                      <a:endParaRPr lang="en-IN" sz="14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1400" dirty="0">
                          <a:latin typeface="Times New Roman" panose="02020603050405020304" pitchFamily="18" charset="0"/>
                          <a:cs typeface="Times New Roman" panose="02020603050405020304" pitchFamily="18" charset="0"/>
                        </a:rPr>
                        <a:t>Uses transactional data with key features: recency, frequency, and monetary value. Data preprocessing includes cleansing and aggregation.</a:t>
                      </a:r>
                      <a:endParaRPr lang="en-IN" sz="14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1400" dirty="0">
                          <a:latin typeface="Times New Roman" panose="02020603050405020304" pitchFamily="18" charset="0"/>
                          <a:cs typeface="Times New Roman" panose="02020603050405020304" pitchFamily="18" charset="0"/>
                        </a:rPr>
                        <a:t>Implements BG/NBD and Gamma-Gamma models to predict CLV, segment customers, and optimize retention strategies.</a:t>
                      </a:r>
                      <a:endParaRPr lang="en-IN" sz="14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1400" dirty="0">
                          <a:latin typeface="Times New Roman" panose="02020603050405020304" pitchFamily="18" charset="0"/>
                          <a:cs typeface="Times New Roman" panose="02020603050405020304" pitchFamily="18" charset="0"/>
                        </a:rPr>
                        <a:t>Model assumptions may not always hold; requires high-quality data; limited adaptability to rapidly changing customer behavior.</a:t>
                      </a:r>
                      <a:endParaRPr lang="en-IN" sz="14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1400" dirty="0">
                          <a:latin typeface="Times New Roman" panose="02020603050405020304" pitchFamily="18" charset="0"/>
                          <a:cs typeface="Times New Roman" panose="02020603050405020304" pitchFamily="18" charset="0"/>
                        </a:rPr>
                        <a:t>Predictive analytics enhances CLV estimation, helping businesses prioritize high-value customers, improve retention, and maximize revenue.</a:t>
                      </a:r>
                      <a:endParaRPr lang="en-IN" sz="1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13792081"/>
                  </a:ext>
                </a:extLst>
              </a:tr>
            </a:tbl>
          </a:graphicData>
        </a:graphic>
      </p:graphicFrame>
    </p:spTree>
    <p:extLst>
      <p:ext uri="{BB962C8B-B14F-4D97-AF65-F5344CB8AC3E}">
        <p14:creationId xmlns:p14="http://schemas.microsoft.com/office/powerpoint/2010/main" val="2244252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6DA57BB-6B97-4E10-997D-9A1A65BF1981}"/>
              </a:ext>
            </a:extLst>
          </p:cNvPr>
          <p:cNvGraphicFramePr>
            <a:graphicFrameLocks noGrp="1"/>
          </p:cNvGraphicFramePr>
          <p:nvPr>
            <p:extLst>
              <p:ext uri="{D42A27DB-BD31-4B8C-83A1-F6EECF244321}">
                <p14:modId xmlns:p14="http://schemas.microsoft.com/office/powerpoint/2010/main" val="1371506475"/>
              </p:ext>
            </p:extLst>
          </p:nvPr>
        </p:nvGraphicFramePr>
        <p:xfrm>
          <a:off x="452284" y="619433"/>
          <a:ext cx="11440500" cy="5024283"/>
        </p:xfrm>
        <a:graphic>
          <a:graphicData uri="http://schemas.openxmlformats.org/drawingml/2006/table">
            <a:tbl>
              <a:tblPr firstRow="1" bandRow="1">
                <a:tableStyleId>{21E4AEA4-8DFA-4A89-87EB-49C32662AFE0}</a:tableStyleId>
              </a:tblPr>
              <a:tblGrid>
                <a:gridCol w="2288100">
                  <a:extLst>
                    <a:ext uri="{9D8B030D-6E8A-4147-A177-3AD203B41FA5}">
                      <a16:colId xmlns:a16="http://schemas.microsoft.com/office/drawing/2014/main" val="2986384201"/>
                    </a:ext>
                  </a:extLst>
                </a:gridCol>
                <a:gridCol w="2288100">
                  <a:extLst>
                    <a:ext uri="{9D8B030D-6E8A-4147-A177-3AD203B41FA5}">
                      <a16:colId xmlns:a16="http://schemas.microsoft.com/office/drawing/2014/main" val="2576049428"/>
                    </a:ext>
                  </a:extLst>
                </a:gridCol>
                <a:gridCol w="2288100">
                  <a:extLst>
                    <a:ext uri="{9D8B030D-6E8A-4147-A177-3AD203B41FA5}">
                      <a16:colId xmlns:a16="http://schemas.microsoft.com/office/drawing/2014/main" val="638676781"/>
                    </a:ext>
                  </a:extLst>
                </a:gridCol>
                <a:gridCol w="2288100">
                  <a:extLst>
                    <a:ext uri="{9D8B030D-6E8A-4147-A177-3AD203B41FA5}">
                      <a16:colId xmlns:a16="http://schemas.microsoft.com/office/drawing/2014/main" val="2914365433"/>
                    </a:ext>
                  </a:extLst>
                </a:gridCol>
                <a:gridCol w="2288100">
                  <a:extLst>
                    <a:ext uri="{9D8B030D-6E8A-4147-A177-3AD203B41FA5}">
                      <a16:colId xmlns:a16="http://schemas.microsoft.com/office/drawing/2014/main" val="1316374933"/>
                    </a:ext>
                  </a:extLst>
                </a:gridCol>
              </a:tblGrid>
              <a:tr h="1586419">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Title</a:t>
                      </a:r>
                    </a:p>
                    <a:p>
                      <a:pPr algn="ctr">
                        <a:lnSpc>
                          <a:spcPct val="150000"/>
                        </a:lnSpc>
                      </a:pPr>
                      <a:r>
                        <a:rPr lang="en-IN" sz="1600" b="1" dirty="0">
                          <a:latin typeface="Times New Roman" panose="02020603050405020304" pitchFamily="18" charset="0"/>
                          <a:cs typeface="Times New Roman" panose="02020603050405020304" pitchFamily="18" charset="0"/>
                        </a:rPr>
                        <a:t>&amp;</a:t>
                      </a:r>
                    </a:p>
                    <a:p>
                      <a:pPr algn="ctr">
                        <a:lnSpc>
                          <a:spcPct val="150000"/>
                        </a:lnSpc>
                      </a:pPr>
                      <a:r>
                        <a:rPr lang="en-IN" sz="1600" b="1" dirty="0">
                          <a:latin typeface="Times New Roman" panose="02020603050405020304" pitchFamily="18" charset="0"/>
                          <a:cs typeface="Times New Roman" panose="02020603050405020304" pitchFamily="18" charset="0"/>
                        </a:rPr>
                        <a:t>Authors</a:t>
                      </a:r>
                    </a:p>
                  </a:txBody>
                  <a:tcPr/>
                </a:tc>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Methodology</a:t>
                      </a:r>
                    </a:p>
                    <a:p>
                      <a:pPr algn="ctr">
                        <a:lnSpc>
                          <a:spcPct val="150000"/>
                        </a:lnSpc>
                      </a:pPr>
                      <a:r>
                        <a:rPr lang="en-IN" sz="1600" b="1" dirty="0">
                          <a:latin typeface="Times New Roman" panose="02020603050405020304" pitchFamily="18" charset="0"/>
                          <a:cs typeface="Times New Roman" panose="02020603050405020304" pitchFamily="18" charset="0"/>
                        </a:rPr>
                        <a:t> (Data Format)</a:t>
                      </a:r>
                    </a:p>
                  </a:txBody>
                  <a:tcPr/>
                </a:tc>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Proposed </a:t>
                      </a:r>
                    </a:p>
                    <a:p>
                      <a:pPr algn="ctr">
                        <a:lnSpc>
                          <a:spcPct val="150000"/>
                        </a:lnSpc>
                      </a:pPr>
                      <a:r>
                        <a:rPr lang="en-IN" sz="1600" b="1" dirty="0">
                          <a:latin typeface="Times New Roman" panose="02020603050405020304" pitchFamily="18" charset="0"/>
                          <a:cs typeface="Times New Roman" panose="02020603050405020304" pitchFamily="18" charset="0"/>
                        </a:rPr>
                        <a:t>System</a:t>
                      </a:r>
                    </a:p>
                  </a:txBody>
                  <a:tcPr anchor="ct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Cons</a:t>
                      </a:r>
                    </a:p>
                  </a:txBody>
                  <a:tcP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Conclusion</a:t>
                      </a:r>
                    </a:p>
                  </a:txBody>
                  <a:tcPr/>
                </a:tc>
                <a:extLst>
                  <a:ext uri="{0D108BD9-81ED-4DB2-BD59-A6C34878D82A}">
                    <a16:rowId xmlns:a16="http://schemas.microsoft.com/office/drawing/2014/main" val="3774666632"/>
                  </a:ext>
                </a:extLst>
              </a:tr>
              <a:tr h="3437864">
                <a:tc>
                  <a:txBody>
                    <a:bodyPr/>
                    <a:lstStyle/>
                    <a:p>
                      <a:pPr algn="ctr">
                        <a:lnSpc>
                          <a:spcPct val="150000"/>
                        </a:lnSpc>
                      </a:pPr>
                      <a:r>
                        <a:rPr lang="en-US" sz="1500" b="1" dirty="0">
                          <a:latin typeface="Times New Roman" panose="02020603050405020304" pitchFamily="18" charset="0"/>
                          <a:cs typeface="Times New Roman" panose="02020603050405020304" pitchFamily="18" charset="0"/>
                        </a:rPr>
                        <a:t>TITLE: </a:t>
                      </a:r>
                      <a:r>
                        <a:rPr lang="en-US" sz="1500" dirty="0">
                          <a:latin typeface="Times New Roman" panose="02020603050405020304" pitchFamily="18" charset="0"/>
                          <a:cs typeface="Times New Roman" panose="02020603050405020304" pitchFamily="18" charset="0"/>
                        </a:rPr>
                        <a:t>Predicting Customer Lifetime Value through Data Mining Technique in a Direct Selling Company</a:t>
                      </a:r>
                    </a:p>
                    <a:p>
                      <a:pPr algn="ctr">
                        <a:lnSpc>
                          <a:spcPct val="150000"/>
                        </a:lnSpc>
                      </a:pPr>
                      <a:r>
                        <a:rPr lang="sv-SE" sz="1500" b="1" dirty="0">
                          <a:latin typeface="Times New Roman" panose="02020603050405020304" pitchFamily="18" charset="0"/>
                          <a:cs typeface="Times New Roman" panose="02020603050405020304" pitchFamily="18" charset="0"/>
                        </a:rPr>
                        <a:t>AUTHOR: </a:t>
                      </a:r>
                      <a:r>
                        <a:rPr lang="en-IN" sz="1500" dirty="0">
                          <a:latin typeface="Times New Roman" panose="02020603050405020304" pitchFamily="18" charset="0"/>
                          <a:cs typeface="Times New Roman" panose="02020603050405020304" pitchFamily="18" charset="0"/>
                        </a:rPr>
                        <a:t>A. P. Mauricio, J. M. M. </a:t>
                      </a:r>
                      <a:r>
                        <a:rPr lang="en-IN" sz="1500" dirty="0" err="1">
                          <a:latin typeface="Times New Roman" panose="02020603050405020304" pitchFamily="18" charset="0"/>
                          <a:cs typeface="Times New Roman" panose="02020603050405020304" pitchFamily="18" charset="0"/>
                        </a:rPr>
                        <a:t>Payawal</a:t>
                      </a:r>
                      <a:r>
                        <a:rPr lang="en-IN" sz="1500" dirty="0">
                          <a:latin typeface="Times New Roman" panose="02020603050405020304" pitchFamily="18" charset="0"/>
                          <a:cs typeface="Times New Roman" panose="02020603050405020304" pitchFamily="18" charset="0"/>
                        </a:rPr>
                        <a:t>, M. A. Dela Cueva, V. C. Quevedo</a:t>
                      </a:r>
                      <a:endParaRPr lang="sv-SE" sz="15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endParaRPr lang="en-US" sz="1500" dirty="0">
                        <a:latin typeface="Times New Roman" panose="02020603050405020304" pitchFamily="18" charset="0"/>
                        <a:cs typeface="Times New Roman" panose="02020603050405020304" pitchFamily="18" charset="0"/>
                      </a:endParaRPr>
                    </a:p>
                    <a:p>
                      <a:pPr algn="ctr">
                        <a:lnSpc>
                          <a:spcPct val="150000"/>
                        </a:lnSpc>
                      </a:pPr>
                      <a:r>
                        <a:rPr lang="en-US" sz="1500" dirty="0">
                          <a:latin typeface="Times New Roman" panose="02020603050405020304" pitchFamily="18" charset="0"/>
                          <a:cs typeface="Times New Roman" panose="02020603050405020304" pitchFamily="18" charset="0"/>
                        </a:rPr>
                        <a:t>Utilizes transactional and customer data; applies data mining techniques for pattern recognition and CLV prediction.</a:t>
                      </a:r>
                      <a:endParaRPr lang="en-IN" sz="15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endParaRPr lang="en-US" sz="1500" dirty="0">
                        <a:latin typeface="Times New Roman" panose="02020603050405020304" pitchFamily="18" charset="0"/>
                        <a:cs typeface="Times New Roman" panose="02020603050405020304" pitchFamily="18" charset="0"/>
                      </a:endParaRPr>
                    </a:p>
                    <a:p>
                      <a:pPr algn="ctr">
                        <a:lnSpc>
                          <a:spcPct val="150000"/>
                        </a:lnSpc>
                      </a:pPr>
                      <a:r>
                        <a:rPr lang="en-US" sz="1500" dirty="0">
                          <a:latin typeface="Times New Roman" panose="02020603050405020304" pitchFamily="18" charset="0"/>
                          <a:cs typeface="Times New Roman" panose="02020603050405020304" pitchFamily="18" charset="0"/>
                        </a:rPr>
                        <a:t>Implements data mining models to analyze purchasing behavior and predict CLV for customer segmentation and retention strategies</a:t>
                      </a:r>
                      <a:r>
                        <a:rPr lang="en-US" sz="1500" dirty="0"/>
                        <a:t>.</a:t>
                      </a:r>
                      <a:endParaRPr lang="en-IN" sz="15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endParaRPr lang="en-US" sz="1500" dirty="0">
                        <a:latin typeface="Times New Roman" panose="02020603050405020304" pitchFamily="18" charset="0"/>
                        <a:cs typeface="Times New Roman" panose="02020603050405020304" pitchFamily="18" charset="0"/>
                      </a:endParaRPr>
                    </a:p>
                    <a:p>
                      <a:pPr algn="ctr">
                        <a:lnSpc>
                          <a:spcPct val="150000"/>
                        </a:lnSpc>
                      </a:pPr>
                      <a:r>
                        <a:rPr lang="en-US" sz="1500" dirty="0">
                          <a:latin typeface="Times New Roman" panose="02020603050405020304" pitchFamily="18" charset="0"/>
                          <a:cs typeface="Times New Roman" panose="02020603050405020304" pitchFamily="18" charset="0"/>
                        </a:rPr>
                        <a:t>Accuracy depends on data quality; may not generalize well across different industries; requires computational resources.</a:t>
                      </a:r>
                      <a:endParaRPr lang="en-IN" sz="15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endParaRPr lang="en-US" sz="1500" dirty="0">
                        <a:latin typeface="Times New Roman" panose="02020603050405020304" pitchFamily="18" charset="0"/>
                        <a:cs typeface="Times New Roman" panose="02020603050405020304" pitchFamily="18" charset="0"/>
                      </a:endParaRPr>
                    </a:p>
                    <a:p>
                      <a:pPr algn="ctr">
                        <a:lnSpc>
                          <a:spcPct val="150000"/>
                        </a:lnSpc>
                      </a:pPr>
                      <a:r>
                        <a:rPr lang="en-US" sz="1500" dirty="0">
                          <a:latin typeface="Times New Roman" panose="02020603050405020304" pitchFamily="18" charset="0"/>
                          <a:cs typeface="Times New Roman" panose="02020603050405020304" pitchFamily="18" charset="0"/>
                        </a:rPr>
                        <a:t>Data mining techniques improve CLV prediction, aiding direct selling companies in customer prioritization and revenue optimization.</a:t>
                      </a:r>
                      <a:endParaRPr lang="en-IN" sz="15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59383060"/>
                  </a:ext>
                </a:extLst>
              </a:tr>
            </a:tbl>
          </a:graphicData>
        </a:graphic>
      </p:graphicFrame>
    </p:spTree>
    <p:extLst>
      <p:ext uri="{BB962C8B-B14F-4D97-AF65-F5344CB8AC3E}">
        <p14:creationId xmlns:p14="http://schemas.microsoft.com/office/powerpoint/2010/main" val="1343547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A69D94D-D91D-6C59-A6CB-EB1522A83B10}"/>
              </a:ext>
            </a:extLst>
          </p:cNvPr>
          <p:cNvGraphicFramePr>
            <a:graphicFrameLocks noGrp="1"/>
          </p:cNvGraphicFramePr>
          <p:nvPr>
            <p:extLst>
              <p:ext uri="{D42A27DB-BD31-4B8C-83A1-F6EECF244321}">
                <p14:modId xmlns:p14="http://schemas.microsoft.com/office/powerpoint/2010/main" val="3797679639"/>
              </p:ext>
            </p:extLst>
          </p:nvPr>
        </p:nvGraphicFramePr>
        <p:xfrm>
          <a:off x="235974" y="471949"/>
          <a:ext cx="11484080" cy="5515896"/>
        </p:xfrm>
        <a:graphic>
          <a:graphicData uri="http://schemas.openxmlformats.org/drawingml/2006/table">
            <a:tbl>
              <a:tblPr firstRow="1" bandRow="1">
                <a:tableStyleId>{21E4AEA4-8DFA-4A89-87EB-49C32662AFE0}</a:tableStyleId>
              </a:tblPr>
              <a:tblGrid>
                <a:gridCol w="2296816">
                  <a:extLst>
                    <a:ext uri="{9D8B030D-6E8A-4147-A177-3AD203B41FA5}">
                      <a16:colId xmlns:a16="http://schemas.microsoft.com/office/drawing/2014/main" val="2867013726"/>
                    </a:ext>
                  </a:extLst>
                </a:gridCol>
                <a:gridCol w="2296816">
                  <a:extLst>
                    <a:ext uri="{9D8B030D-6E8A-4147-A177-3AD203B41FA5}">
                      <a16:colId xmlns:a16="http://schemas.microsoft.com/office/drawing/2014/main" val="2233659520"/>
                    </a:ext>
                  </a:extLst>
                </a:gridCol>
                <a:gridCol w="2296816">
                  <a:extLst>
                    <a:ext uri="{9D8B030D-6E8A-4147-A177-3AD203B41FA5}">
                      <a16:colId xmlns:a16="http://schemas.microsoft.com/office/drawing/2014/main" val="1988210725"/>
                    </a:ext>
                  </a:extLst>
                </a:gridCol>
                <a:gridCol w="2296816">
                  <a:extLst>
                    <a:ext uri="{9D8B030D-6E8A-4147-A177-3AD203B41FA5}">
                      <a16:colId xmlns:a16="http://schemas.microsoft.com/office/drawing/2014/main" val="1491930020"/>
                    </a:ext>
                  </a:extLst>
                </a:gridCol>
                <a:gridCol w="2296816">
                  <a:extLst>
                    <a:ext uri="{9D8B030D-6E8A-4147-A177-3AD203B41FA5}">
                      <a16:colId xmlns:a16="http://schemas.microsoft.com/office/drawing/2014/main" val="2510912254"/>
                    </a:ext>
                  </a:extLst>
                </a:gridCol>
              </a:tblGrid>
              <a:tr h="1741646">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Title</a:t>
                      </a:r>
                    </a:p>
                    <a:p>
                      <a:pPr algn="ctr">
                        <a:lnSpc>
                          <a:spcPct val="150000"/>
                        </a:lnSpc>
                      </a:pPr>
                      <a:r>
                        <a:rPr lang="en-IN" sz="1600" b="1" dirty="0">
                          <a:latin typeface="Times New Roman" panose="02020603050405020304" pitchFamily="18" charset="0"/>
                          <a:cs typeface="Times New Roman" panose="02020603050405020304" pitchFamily="18" charset="0"/>
                        </a:rPr>
                        <a:t>&amp;</a:t>
                      </a:r>
                    </a:p>
                    <a:p>
                      <a:pPr algn="ctr">
                        <a:lnSpc>
                          <a:spcPct val="150000"/>
                        </a:lnSpc>
                      </a:pPr>
                      <a:r>
                        <a:rPr lang="en-IN" sz="1600" b="1" dirty="0">
                          <a:latin typeface="Times New Roman" panose="02020603050405020304" pitchFamily="18" charset="0"/>
                          <a:cs typeface="Times New Roman" panose="02020603050405020304" pitchFamily="18" charset="0"/>
                        </a:rPr>
                        <a:t>Authors</a:t>
                      </a:r>
                    </a:p>
                  </a:txBody>
                  <a:tcP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Methodology</a:t>
                      </a:r>
                    </a:p>
                    <a:p>
                      <a:pPr algn="ctr">
                        <a:lnSpc>
                          <a:spcPct val="150000"/>
                        </a:lnSpc>
                      </a:pPr>
                      <a:r>
                        <a:rPr lang="en-IN" sz="1600" b="1" dirty="0">
                          <a:latin typeface="Times New Roman" panose="02020603050405020304" pitchFamily="18" charset="0"/>
                          <a:cs typeface="Times New Roman" panose="02020603050405020304" pitchFamily="18" charset="0"/>
                        </a:rPr>
                        <a:t> (Data Format)</a:t>
                      </a:r>
                    </a:p>
                  </a:txBody>
                  <a:tcPr/>
                </a:tc>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Proposed </a:t>
                      </a:r>
                    </a:p>
                    <a:p>
                      <a:pPr algn="ctr">
                        <a:lnSpc>
                          <a:spcPct val="150000"/>
                        </a:lnSpc>
                      </a:pPr>
                      <a:r>
                        <a:rPr lang="en-IN" sz="1600" b="1" dirty="0">
                          <a:latin typeface="Times New Roman" panose="02020603050405020304" pitchFamily="18" charset="0"/>
                          <a:cs typeface="Times New Roman" panose="02020603050405020304" pitchFamily="18" charset="0"/>
                        </a:rPr>
                        <a:t>System</a:t>
                      </a:r>
                    </a:p>
                  </a:txBody>
                  <a:tcPr anchor="ct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Cons</a:t>
                      </a:r>
                    </a:p>
                  </a:txBody>
                  <a:tcP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Conclusion</a:t>
                      </a:r>
                    </a:p>
                  </a:txBody>
                  <a:tcPr/>
                </a:tc>
                <a:extLst>
                  <a:ext uri="{0D108BD9-81ED-4DB2-BD59-A6C34878D82A}">
                    <a16:rowId xmlns:a16="http://schemas.microsoft.com/office/drawing/2014/main" val="3109608604"/>
                  </a:ext>
                </a:extLst>
              </a:tr>
              <a:tr h="3774250">
                <a:tc>
                  <a:txBody>
                    <a:bodyPr/>
                    <a:lstStyle/>
                    <a:p>
                      <a:pPr algn="ctr">
                        <a:lnSpc>
                          <a:spcPct val="150000"/>
                        </a:lnSpc>
                      </a:pPr>
                      <a:r>
                        <a:rPr lang="en-US" sz="1500" b="1" dirty="0">
                          <a:latin typeface="Times New Roman" panose="02020603050405020304" pitchFamily="18" charset="0"/>
                          <a:cs typeface="Times New Roman" panose="02020603050405020304" pitchFamily="18" charset="0"/>
                        </a:rPr>
                        <a:t>TITLE: </a:t>
                      </a:r>
                      <a:r>
                        <a:rPr lang="en-US" sz="1500" dirty="0">
                          <a:latin typeface="Times New Roman" panose="02020603050405020304" pitchFamily="18" charset="0"/>
                          <a:cs typeface="Times New Roman" panose="02020603050405020304" pitchFamily="18" charset="0"/>
                        </a:rPr>
                        <a:t>Customer Lifetime Value Prediction Using Embeddings</a:t>
                      </a:r>
                    </a:p>
                    <a:p>
                      <a:pPr algn="ctr">
                        <a:lnSpc>
                          <a:spcPct val="150000"/>
                        </a:lnSpc>
                      </a:pPr>
                      <a:r>
                        <a:rPr lang="sv-SE" sz="1500" b="1" dirty="0">
                          <a:latin typeface="Times New Roman" panose="02020603050405020304" pitchFamily="18" charset="0"/>
                          <a:cs typeface="Times New Roman" panose="02020603050405020304" pitchFamily="18" charset="0"/>
                        </a:rPr>
                        <a:t>AUTHOR:</a:t>
                      </a:r>
                    </a:p>
                    <a:p>
                      <a:pPr algn="ctr">
                        <a:lnSpc>
                          <a:spcPct val="150000"/>
                        </a:lnSpc>
                      </a:pPr>
                      <a:r>
                        <a:rPr lang="en-IN" sz="1500" dirty="0">
                          <a:latin typeface="Times New Roman" panose="02020603050405020304" pitchFamily="18" charset="0"/>
                          <a:cs typeface="Times New Roman" panose="02020603050405020304" pitchFamily="18" charset="0"/>
                        </a:rPr>
                        <a:t>Benjamin Chamberlain, </a:t>
                      </a:r>
                      <a:r>
                        <a:rPr lang="en-IN" sz="1500" dirty="0" err="1">
                          <a:latin typeface="Times New Roman" panose="02020603050405020304" pitchFamily="18" charset="0"/>
                          <a:cs typeface="Times New Roman" panose="02020603050405020304" pitchFamily="18" charset="0"/>
                        </a:rPr>
                        <a:t>Ângelo</a:t>
                      </a:r>
                      <a:r>
                        <a:rPr lang="en-IN" sz="1500" dirty="0">
                          <a:latin typeface="Times New Roman" panose="02020603050405020304" pitchFamily="18" charset="0"/>
                          <a:cs typeface="Times New Roman" panose="02020603050405020304" pitchFamily="18" charset="0"/>
                        </a:rPr>
                        <a:t> Cardoso, C.H. Liu, Roberto </a:t>
                      </a:r>
                      <a:r>
                        <a:rPr lang="en-IN" sz="1500" dirty="0" err="1">
                          <a:latin typeface="Times New Roman" panose="02020603050405020304" pitchFamily="18" charset="0"/>
                          <a:cs typeface="Times New Roman" panose="02020603050405020304" pitchFamily="18" charset="0"/>
                        </a:rPr>
                        <a:t>Pagliari</a:t>
                      </a:r>
                      <a:r>
                        <a:rPr lang="en-IN" sz="1500" dirty="0">
                          <a:latin typeface="Times New Roman" panose="02020603050405020304" pitchFamily="18" charset="0"/>
                          <a:cs typeface="Times New Roman" panose="02020603050405020304" pitchFamily="18" charset="0"/>
                        </a:rPr>
                        <a:t>, Marc Deisenroth</a:t>
                      </a:r>
                      <a:endParaRPr lang="sv-SE" sz="15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endParaRPr lang="en-US" sz="1500" dirty="0">
                        <a:latin typeface="Times New Roman" panose="02020603050405020304" pitchFamily="18" charset="0"/>
                        <a:cs typeface="Times New Roman" panose="02020603050405020304" pitchFamily="18" charset="0"/>
                      </a:endParaRPr>
                    </a:p>
                    <a:p>
                      <a:pPr algn="ctr">
                        <a:lnSpc>
                          <a:spcPct val="150000"/>
                        </a:lnSpc>
                      </a:pPr>
                      <a:r>
                        <a:rPr lang="en-US" sz="1500" dirty="0">
                          <a:latin typeface="Times New Roman" panose="02020603050405020304" pitchFamily="18" charset="0"/>
                          <a:cs typeface="Times New Roman" panose="02020603050405020304" pitchFamily="18" charset="0"/>
                        </a:rPr>
                        <a:t>Uses customer transactional data; applies embeddings for feature representation and predictive modeling.</a:t>
                      </a:r>
                      <a:endParaRPr lang="en-IN" sz="15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endParaRPr lang="en-US" sz="1500" dirty="0">
                        <a:latin typeface="Times New Roman" panose="02020603050405020304" pitchFamily="18" charset="0"/>
                        <a:cs typeface="Times New Roman" panose="02020603050405020304" pitchFamily="18" charset="0"/>
                      </a:endParaRPr>
                    </a:p>
                    <a:p>
                      <a:pPr algn="ctr">
                        <a:lnSpc>
                          <a:spcPct val="150000"/>
                        </a:lnSpc>
                      </a:pPr>
                      <a:r>
                        <a:rPr lang="en-US" sz="1500" dirty="0">
                          <a:latin typeface="Times New Roman" panose="02020603050405020304" pitchFamily="18" charset="0"/>
                          <a:cs typeface="Times New Roman" panose="02020603050405020304" pitchFamily="18" charset="0"/>
                        </a:rPr>
                        <a:t>Leverages machine learning and embeddings to predict CLV, capturing complex customer behavior patterns.</a:t>
                      </a:r>
                      <a:endParaRPr lang="en-IN" sz="15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1500" dirty="0">
                          <a:latin typeface="Times New Roman" panose="02020603050405020304" pitchFamily="18" charset="0"/>
                          <a:cs typeface="Times New Roman" panose="02020603050405020304" pitchFamily="18" charset="0"/>
                        </a:rPr>
                        <a:t>Requires large datasets; computationally intensive; model interpretability may be challenging.</a:t>
                      </a:r>
                    </a:p>
                  </a:txBody>
                  <a:tcPr anchor="ctr"/>
                </a:tc>
                <a:tc>
                  <a:txBody>
                    <a:bodyPr/>
                    <a:lstStyle/>
                    <a:p>
                      <a:pPr algn="ctr">
                        <a:lnSpc>
                          <a:spcPct val="150000"/>
                        </a:lnSpc>
                      </a:pPr>
                      <a:r>
                        <a:rPr lang="en-US" sz="1500" dirty="0">
                          <a:latin typeface="Times New Roman" panose="02020603050405020304" pitchFamily="18" charset="0"/>
                          <a:cs typeface="Times New Roman" panose="02020603050405020304" pitchFamily="18" charset="0"/>
                        </a:rPr>
                        <a:t>Embedding-based models improve CLV prediction accuracy, enabling better customer insights and retention strategies.</a:t>
                      </a:r>
                    </a:p>
                  </a:txBody>
                  <a:tcPr anchor="ctr"/>
                </a:tc>
                <a:extLst>
                  <a:ext uri="{0D108BD9-81ED-4DB2-BD59-A6C34878D82A}">
                    <a16:rowId xmlns:a16="http://schemas.microsoft.com/office/drawing/2014/main" val="1566993954"/>
                  </a:ext>
                </a:extLst>
              </a:tr>
            </a:tbl>
          </a:graphicData>
        </a:graphic>
      </p:graphicFrame>
    </p:spTree>
    <p:extLst>
      <p:ext uri="{BB962C8B-B14F-4D97-AF65-F5344CB8AC3E}">
        <p14:creationId xmlns:p14="http://schemas.microsoft.com/office/powerpoint/2010/main" val="696625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4A7613F-498C-FCEB-023E-5A4D1D2D1705}"/>
              </a:ext>
            </a:extLst>
          </p:cNvPr>
          <p:cNvGraphicFramePr>
            <a:graphicFrameLocks noGrp="1"/>
          </p:cNvGraphicFramePr>
          <p:nvPr>
            <p:extLst>
              <p:ext uri="{D42A27DB-BD31-4B8C-83A1-F6EECF244321}">
                <p14:modId xmlns:p14="http://schemas.microsoft.com/office/powerpoint/2010/main" val="520814182"/>
              </p:ext>
            </p:extLst>
          </p:nvPr>
        </p:nvGraphicFramePr>
        <p:xfrm>
          <a:off x="422788" y="540774"/>
          <a:ext cx="11346425" cy="5574891"/>
        </p:xfrm>
        <a:graphic>
          <a:graphicData uri="http://schemas.openxmlformats.org/drawingml/2006/table">
            <a:tbl>
              <a:tblPr firstRow="1" bandRow="1">
                <a:tableStyleId>{21E4AEA4-8DFA-4A89-87EB-49C32662AFE0}</a:tableStyleId>
              </a:tblPr>
              <a:tblGrid>
                <a:gridCol w="2269285">
                  <a:extLst>
                    <a:ext uri="{9D8B030D-6E8A-4147-A177-3AD203B41FA5}">
                      <a16:colId xmlns:a16="http://schemas.microsoft.com/office/drawing/2014/main" val="1459873822"/>
                    </a:ext>
                  </a:extLst>
                </a:gridCol>
                <a:gridCol w="2269285">
                  <a:extLst>
                    <a:ext uri="{9D8B030D-6E8A-4147-A177-3AD203B41FA5}">
                      <a16:colId xmlns:a16="http://schemas.microsoft.com/office/drawing/2014/main" val="1041134082"/>
                    </a:ext>
                  </a:extLst>
                </a:gridCol>
                <a:gridCol w="2269285">
                  <a:extLst>
                    <a:ext uri="{9D8B030D-6E8A-4147-A177-3AD203B41FA5}">
                      <a16:colId xmlns:a16="http://schemas.microsoft.com/office/drawing/2014/main" val="1336448389"/>
                    </a:ext>
                  </a:extLst>
                </a:gridCol>
                <a:gridCol w="2269285">
                  <a:extLst>
                    <a:ext uri="{9D8B030D-6E8A-4147-A177-3AD203B41FA5}">
                      <a16:colId xmlns:a16="http://schemas.microsoft.com/office/drawing/2014/main" val="3286644292"/>
                    </a:ext>
                  </a:extLst>
                </a:gridCol>
                <a:gridCol w="2269285">
                  <a:extLst>
                    <a:ext uri="{9D8B030D-6E8A-4147-A177-3AD203B41FA5}">
                      <a16:colId xmlns:a16="http://schemas.microsoft.com/office/drawing/2014/main" val="1821825527"/>
                    </a:ext>
                  </a:extLst>
                </a:gridCol>
              </a:tblGrid>
              <a:tr h="1760274">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Title</a:t>
                      </a:r>
                    </a:p>
                    <a:p>
                      <a:pPr algn="ctr">
                        <a:lnSpc>
                          <a:spcPct val="150000"/>
                        </a:lnSpc>
                      </a:pPr>
                      <a:r>
                        <a:rPr lang="en-IN" sz="1600" b="1" dirty="0">
                          <a:latin typeface="Times New Roman" panose="02020603050405020304" pitchFamily="18" charset="0"/>
                          <a:cs typeface="Times New Roman" panose="02020603050405020304" pitchFamily="18" charset="0"/>
                        </a:rPr>
                        <a:t>&amp;</a:t>
                      </a:r>
                    </a:p>
                    <a:p>
                      <a:pPr algn="ctr">
                        <a:lnSpc>
                          <a:spcPct val="150000"/>
                        </a:lnSpc>
                      </a:pPr>
                      <a:r>
                        <a:rPr lang="en-IN" sz="1600" b="1" dirty="0">
                          <a:latin typeface="Times New Roman" panose="02020603050405020304" pitchFamily="18" charset="0"/>
                          <a:cs typeface="Times New Roman" panose="02020603050405020304" pitchFamily="18" charset="0"/>
                        </a:rPr>
                        <a:t>Authors</a:t>
                      </a:r>
                    </a:p>
                  </a:txBody>
                  <a:tcP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Methodology</a:t>
                      </a:r>
                    </a:p>
                    <a:p>
                      <a:pPr algn="ctr">
                        <a:lnSpc>
                          <a:spcPct val="150000"/>
                        </a:lnSpc>
                      </a:pPr>
                      <a:r>
                        <a:rPr lang="en-IN" sz="1600" b="1" dirty="0">
                          <a:latin typeface="Times New Roman" panose="02020603050405020304" pitchFamily="18" charset="0"/>
                          <a:cs typeface="Times New Roman" panose="02020603050405020304" pitchFamily="18" charset="0"/>
                        </a:rPr>
                        <a:t> (Data Format)</a:t>
                      </a:r>
                    </a:p>
                  </a:txBody>
                  <a:tcPr/>
                </a:tc>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Proposed </a:t>
                      </a:r>
                    </a:p>
                    <a:p>
                      <a:pPr algn="ctr">
                        <a:lnSpc>
                          <a:spcPct val="150000"/>
                        </a:lnSpc>
                      </a:pPr>
                      <a:r>
                        <a:rPr lang="en-IN" sz="1600" b="1" dirty="0">
                          <a:latin typeface="Times New Roman" panose="02020603050405020304" pitchFamily="18" charset="0"/>
                          <a:cs typeface="Times New Roman" panose="02020603050405020304" pitchFamily="18" charset="0"/>
                        </a:rPr>
                        <a:t>System</a:t>
                      </a:r>
                    </a:p>
                  </a:txBody>
                  <a:tcPr anchor="ct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Cons</a:t>
                      </a:r>
                    </a:p>
                  </a:txBody>
                  <a:tcP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Conclusion</a:t>
                      </a:r>
                    </a:p>
                  </a:txBody>
                  <a:tcPr/>
                </a:tc>
                <a:extLst>
                  <a:ext uri="{0D108BD9-81ED-4DB2-BD59-A6C34878D82A}">
                    <a16:rowId xmlns:a16="http://schemas.microsoft.com/office/drawing/2014/main" val="3671297561"/>
                  </a:ext>
                </a:extLst>
              </a:tr>
              <a:tr h="3814617">
                <a:tc>
                  <a:txBody>
                    <a:bodyPr/>
                    <a:lstStyle/>
                    <a:p>
                      <a:pPr algn="ctr">
                        <a:lnSpc>
                          <a:spcPct val="150000"/>
                        </a:lnSpc>
                      </a:pPr>
                      <a:r>
                        <a:rPr lang="en-US" sz="1500" b="1" dirty="0">
                          <a:latin typeface="Times New Roman" panose="02020603050405020304" pitchFamily="18" charset="0"/>
                          <a:cs typeface="Times New Roman" panose="02020603050405020304" pitchFamily="18" charset="0"/>
                        </a:rPr>
                        <a:t>TITLE: </a:t>
                      </a:r>
                      <a:r>
                        <a:rPr lang="en-US" sz="1500" dirty="0">
                          <a:latin typeface="Times New Roman" panose="02020603050405020304" pitchFamily="18" charset="0"/>
                          <a:cs typeface="Times New Roman" panose="02020603050405020304" pitchFamily="18" charset="0"/>
                        </a:rPr>
                        <a:t>The Research of Customer Lifetime Value Related to Risk Factors in the Internet Business: Exampled by Online Car-hailing Industry</a:t>
                      </a:r>
                    </a:p>
                    <a:p>
                      <a:pPr algn="ctr">
                        <a:lnSpc>
                          <a:spcPct val="150000"/>
                        </a:lnSpc>
                      </a:pPr>
                      <a:r>
                        <a:rPr lang="sv-SE" sz="1500" b="1" dirty="0">
                          <a:latin typeface="Times New Roman" panose="02020603050405020304" pitchFamily="18" charset="0"/>
                          <a:cs typeface="Times New Roman" panose="02020603050405020304" pitchFamily="18" charset="0"/>
                        </a:rPr>
                        <a:t>AUTHOR:</a:t>
                      </a:r>
                    </a:p>
                    <a:p>
                      <a:pPr algn="ctr">
                        <a:lnSpc>
                          <a:spcPct val="150000"/>
                        </a:lnSpc>
                      </a:pPr>
                      <a:r>
                        <a:rPr lang="en-IN" sz="1500" dirty="0">
                          <a:latin typeface="Times New Roman" panose="02020603050405020304" pitchFamily="18" charset="0"/>
                          <a:cs typeface="Times New Roman" panose="02020603050405020304" pitchFamily="18" charset="0"/>
                        </a:rPr>
                        <a:t>H. Jia, C. Li</a:t>
                      </a:r>
                      <a:endParaRPr lang="sv-SE" sz="15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endParaRPr lang="en-US" sz="1500" dirty="0">
                        <a:latin typeface="Times New Roman" panose="02020603050405020304" pitchFamily="18" charset="0"/>
                        <a:cs typeface="Times New Roman" panose="02020603050405020304" pitchFamily="18" charset="0"/>
                      </a:endParaRPr>
                    </a:p>
                    <a:p>
                      <a:pPr algn="ctr">
                        <a:lnSpc>
                          <a:spcPct val="150000"/>
                        </a:lnSpc>
                      </a:pPr>
                      <a:r>
                        <a:rPr lang="en-US" sz="1500" dirty="0">
                          <a:latin typeface="Times New Roman" panose="02020603050405020304" pitchFamily="18" charset="0"/>
                          <a:cs typeface="Times New Roman" panose="02020603050405020304" pitchFamily="18" charset="0"/>
                        </a:rPr>
                        <a:t>Uses online car-hailing transaction data; considers risk factors affecting CLV.</a:t>
                      </a:r>
                    </a:p>
                  </a:txBody>
                  <a:tcPr/>
                </a:tc>
                <a:tc>
                  <a:txBody>
                    <a:bodyPr/>
                    <a:lstStyle/>
                    <a:p>
                      <a:pPr algn="ctr">
                        <a:lnSpc>
                          <a:spcPct val="150000"/>
                        </a:lnSpc>
                      </a:pPr>
                      <a:endParaRPr lang="en-US" sz="1500" dirty="0">
                        <a:latin typeface="Times New Roman" panose="02020603050405020304" pitchFamily="18" charset="0"/>
                        <a:cs typeface="Times New Roman" panose="02020603050405020304" pitchFamily="18" charset="0"/>
                      </a:endParaRPr>
                    </a:p>
                    <a:p>
                      <a:pPr algn="ctr">
                        <a:lnSpc>
                          <a:spcPct val="150000"/>
                        </a:lnSpc>
                      </a:pPr>
                      <a:r>
                        <a:rPr lang="en-US" sz="1500" dirty="0">
                          <a:latin typeface="Times New Roman" panose="02020603050405020304" pitchFamily="18" charset="0"/>
                          <a:cs typeface="Times New Roman" panose="02020603050405020304" pitchFamily="18" charset="0"/>
                        </a:rPr>
                        <a:t>Analyzes CLV in relation to customer behavior and risk factors, improving business decision-making.</a:t>
                      </a:r>
                      <a:endParaRPr lang="en-IN" sz="15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1500" dirty="0">
                          <a:latin typeface="Times New Roman" panose="02020603050405020304" pitchFamily="18" charset="0"/>
                          <a:cs typeface="Times New Roman" panose="02020603050405020304" pitchFamily="18" charset="0"/>
                        </a:rPr>
                        <a:t>Industry-specific; risk factors may vary across platforms; requires continuous data updates.</a:t>
                      </a:r>
                    </a:p>
                  </a:txBody>
                  <a:tcPr anchor="ctr"/>
                </a:tc>
                <a:tc>
                  <a:txBody>
                    <a:bodyPr/>
                    <a:lstStyle/>
                    <a:p>
                      <a:pPr algn="ctr">
                        <a:lnSpc>
                          <a:spcPct val="150000"/>
                        </a:lnSpc>
                      </a:pPr>
                      <a:r>
                        <a:rPr lang="en-US" sz="1500" dirty="0">
                          <a:latin typeface="Times New Roman" panose="02020603050405020304" pitchFamily="18" charset="0"/>
                          <a:cs typeface="Times New Roman" panose="02020603050405020304" pitchFamily="18" charset="0"/>
                        </a:rPr>
                        <a:t>Identifying risk factors enhances CLV prediction, helping online car-hailing businesses optimize customer management.</a:t>
                      </a:r>
                    </a:p>
                  </a:txBody>
                  <a:tcPr anchor="ctr"/>
                </a:tc>
                <a:extLst>
                  <a:ext uri="{0D108BD9-81ED-4DB2-BD59-A6C34878D82A}">
                    <a16:rowId xmlns:a16="http://schemas.microsoft.com/office/drawing/2014/main" val="1393960743"/>
                  </a:ext>
                </a:extLst>
              </a:tr>
            </a:tbl>
          </a:graphicData>
        </a:graphic>
      </p:graphicFrame>
    </p:spTree>
    <p:extLst>
      <p:ext uri="{BB962C8B-B14F-4D97-AF65-F5344CB8AC3E}">
        <p14:creationId xmlns:p14="http://schemas.microsoft.com/office/powerpoint/2010/main" val="1871970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8CB3624-6622-48A0-9B1C-A1D74318C43A}"/>
              </a:ext>
            </a:extLst>
          </p:cNvPr>
          <p:cNvGraphicFramePr>
            <a:graphicFrameLocks noGrp="1"/>
          </p:cNvGraphicFramePr>
          <p:nvPr>
            <p:extLst>
              <p:ext uri="{D42A27DB-BD31-4B8C-83A1-F6EECF244321}">
                <p14:modId xmlns:p14="http://schemas.microsoft.com/office/powerpoint/2010/main" val="165204018"/>
              </p:ext>
            </p:extLst>
          </p:nvPr>
        </p:nvGraphicFramePr>
        <p:xfrm>
          <a:off x="452285" y="648930"/>
          <a:ext cx="11346425" cy="5555226"/>
        </p:xfrm>
        <a:graphic>
          <a:graphicData uri="http://schemas.openxmlformats.org/drawingml/2006/table">
            <a:tbl>
              <a:tblPr firstRow="1" bandRow="1">
                <a:tableStyleId>{21E4AEA4-8DFA-4A89-87EB-49C32662AFE0}</a:tableStyleId>
              </a:tblPr>
              <a:tblGrid>
                <a:gridCol w="2269285">
                  <a:extLst>
                    <a:ext uri="{9D8B030D-6E8A-4147-A177-3AD203B41FA5}">
                      <a16:colId xmlns:a16="http://schemas.microsoft.com/office/drawing/2014/main" val="2425584667"/>
                    </a:ext>
                  </a:extLst>
                </a:gridCol>
                <a:gridCol w="2269285">
                  <a:extLst>
                    <a:ext uri="{9D8B030D-6E8A-4147-A177-3AD203B41FA5}">
                      <a16:colId xmlns:a16="http://schemas.microsoft.com/office/drawing/2014/main" val="942944969"/>
                    </a:ext>
                  </a:extLst>
                </a:gridCol>
                <a:gridCol w="2269285">
                  <a:extLst>
                    <a:ext uri="{9D8B030D-6E8A-4147-A177-3AD203B41FA5}">
                      <a16:colId xmlns:a16="http://schemas.microsoft.com/office/drawing/2014/main" val="1191474497"/>
                    </a:ext>
                  </a:extLst>
                </a:gridCol>
                <a:gridCol w="2269285">
                  <a:extLst>
                    <a:ext uri="{9D8B030D-6E8A-4147-A177-3AD203B41FA5}">
                      <a16:colId xmlns:a16="http://schemas.microsoft.com/office/drawing/2014/main" val="1157563134"/>
                    </a:ext>
                  </a:extLst>
                </a:gridCol>
                <a:gridCol w="2269285">
                  <a:extLst>
                    <a:ext uri="{9D8B030D-6E8A-4147-A177-3AD203B41FA5}">
                      <a16:colId xmlns:a16="http://schemas.microsoft.com/office/drawing/2014/main" val="581240889"/>
                    </a:ext>
                  </a:extLst>
                </a:gridCol>
              </a:tblGrid>
              <a:tr h="1754065">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Title</a:t>
                      </a:r>
                    </a:p>
                    <a:p>
                      <a:pPr algn="ctr">
                        <a:lnSpc>
                          <a:spcPct val="150000"/>
                        </a:lnSpc>
                      </a:pPr>
                      <a:r>
                        <a:rPr lang="en-IN" sz="1600" b="1" dirty="0">
                          <a:latin typeface="Times New Roman" panose="02020603050405020304" pitchFamily="18" charset="0"/>
                          <a:cs typeface="Times New Roman" panose="02020603050405020304" pitchFamily="18" charset="0"/>
                        </a:rPr>
                        <a:t>&amp;</a:t>
                      </a:r>
                    </a:p>
                    <a:p>
                      <a:pPr algn="ctr">
                        <a:lnSpc>
                          <a:spcPct val="150000"/>
                        </a:lnSpc>
                      </a:pPr>
                      <a:r>
                        <a:rPr lang="en-IN" sz="1600" b="1" dirty="0">
                          <a:latin typeface="Times New Roman" panose="02020603050405020304" pitchFamily="18" charset="0"/>
                          <a:cs typeface="Times New Roman" panose="02020603050405020304" pitchFamily="18" charset="0"/>
                        </a:rPr>
                        <a:t>Authors</a:t>
                      </a:r>
                    </a:p>
                  </a:txBody>
                  <a:tcP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Methodology</a:t>
                      </a:r>
                    </a:p>
                    <a:p>
                      <a:pPr algn="ctr">
                        <a:lnSpc>
                          <a:spcPct val="150000"/>
                        </a:lnSpc>
                      </a:pPr>
                      <a:r>
                        <a:rPr lang="en-IN" sz="1600" b="1" dirty="0">
                          <a:latin typeface="Times New Roman" panose="02020603050405020304" pitchFamily="18" charset="0"/>
                          <a:cs typeface="Times New Roman" panose="02020603050405020304" pitchFamily="18" charset="0"/>
                        </a:rPr>
                        <a:t> (Data Format)</a:t>
                      </a:r>
                    </a:p>
                  </a:txBody>
                  <a:tcPr/>
                </a:tc>
                <a:tc>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Proposed </a:t>
                      </a:r>
                    </a:p>
                    <a:p>
                      <a:pPr algn="ctr">
                        <a:lnSpc>
                          <a:spcPct val="150000"/>
                        </a:lnSpc>
                      </a:pPr>
                      <a:r>
                        <a:rPr lang="en-IN" sz="1600" b="1" dirty="0">
                          <a:latin typeface="Times New Roman" panose="02020603050405020304" pitchFamily="18" charset="0"/>
                          <a:cs typeface="Times New Roman" panose="02020603050405020304" pitchFamily="18" charset="0"/>
                        </a:rPr>
                        <a:t>System</a:t>
                      </a:r>
                    </a:p>
                  </a:txBody>
                  <a:tcPr anchor="ct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Cons</a:t>
                      </a:r>
                    </a:p>
                  </a:txBody>
                  <a:tcPr/>
                </a:tc>
                <a:tc>
                  <a:txBody>
                    <a:bodyPr/>
                    <a:lstStyle/>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Conclusion</a:t>
                      </a:r>
                    </a:p>
                  </a:txBody>
                  <a:tcPr/>
                </a:tc>
                <a:extLst>
                  <a:ext uri="{0D108BD9-81ED-4DB2-BD59-A6C34878D82A}">
                    <a16:rowId xmlns:a16="http://schemas.microsoft.com/office/drawing/2014/main" val="3856784388"/>
                  </a:ext>
                </a:extLst>
              </a:tr>
              <a:tr h="3801161">
                <a:tc>
                  <a:txBody>
                    <a:bodyPr/>
                    <a:lstStyle/>
                    <a:p>
                      <a:pPr algn="ctr">
                        <a:lnSpc>
                          <a:spcPct val="150000"/>
                        </a:lnSpc>
                      </a:pPr>
                      <a:r>
                        <a:rPr lang="en-US" sz="1500" b="1" dirty="0">
                          <a:latin typeface="Times New Roman" panose="02020603050405020304" pitchFamily="18" charset="0"/>
                          <a:cs typeface="Times New Roman" panose="02020603050405020304" pitchFamily="18" charset="0"/>
                        </a:rPr>
                        <a:t>TITLE: </a:t>
                      </a:r>
                      <a:r>
                        <a:rPr lang="en-US" sz="1500" dirty="0">
                          <a:latin typeface="Times New Roman" panose="02020603050405020304" pitchFamily="18" charset="0"/>
                          <a:cs typeface="Times New Roman" panose="02020603050405020304" pitchFamily="18" charset="0"/>
                        </a:rPr>
                        <a:t>Customer Lifetime Value Prediction in Business: An Analytical Approach</a:t>
                      </a:r>
                      <a:r>
                        <a:rPr lang="en-US" sz="1500" b="1" dirty="0">
                          <a:latin typeface="Times New Roman" panose="02020603050405020304" pitchFamily="18" charset="0"/>
                          <a:cs typeface="Times New Roman" panose="02020603050405020304" pitchFamily="18" charset="0"/>
                        </a:rPr>
                        <a:t> </a:t>
                      </a:r>
                    </a:p>
                    <a:p>
                      <a:pPr algn="ctr">
                        <a:lnSpc>
                          <a:spcPct val="150000"/>
                        </a:lnSpc>
                      </a:pPr>
                      <a:r>
                        <a:rPr lang="sv-SE" sz="1500" b="1" dirty="0">
                          <a:latin typeface="Times New Roman" panose="02020603050405020304" pitchFamily="18" charset="0"/>
                          <a:cs typeface="Times New Roman" panose="02020603050405020304" pitchFamily="18" charset="0"/>
                        </a:rPr>
                        <a:t>AUTHOR: </a:t>
                      </a:r>
                      <a:r>
                        <a:rPr lang="en-IN" sz="1500" dirty="0">
                          <a:latin typeface="Times New Roman" panose="02020603050405020304" pitchFamily="18" charset="0"/>
                          <a:cs typeface="Times New Roman" panose="02020603050405020304" pitchFamily="18" charset="0"/>
                        </a:rPr>
                        <a:t>Pavel Jasek, Lenka Vrana, Lucie </a:t>
                      </a:r>
                      <a:r>
                        <a:rPr lang="en-IN" sz="1500" dirty="0" err="1">
                          <a:latin typeface="Times New Roman" panose="02020603050405020304" pitchFamily="18" charset="0"/>
                          <a:cs typeface="Times New Roman" panose="02020603050405020304" pitchFamily="18" charset="0"/>
                        </a:rPr>
                        <a:t>Sperkova</a:t>
                      </a:r>
                      <a:r>
                        <a:rPr lang="en-IN" sz="1500" dirty="0">
                          <a:latin typeface="Times New Roman" panose="02020603050405020304" pitchFamily="18" charset="0"/>
                          <a:cs typeface="Times New Roman" panose="02020603050405020304" pitchFamily="18" charset="0"/>
                        </a:rPr>
                        <a:t>, Zdenek </a:t>
                      </a:r>
                      <a:r>
                        <a:rPr lang="en-IN" sz="1500" dirty="0" err="1">
                          <a:latin typeface="Times New Roman" panose="02020603050405020304" pitchFamily="18" charset="0"/>
                          <a:cs typeface="Times New Roman" panose="02020603050405020304" pitchFamily="18" charset="0"/>
                        </a:rPr>
                        <a:t>Smutny</a:t>
                      </a:r>
                      <a:r>
                        <a:rPr lang="en-IN" sz="1500" dirty="0">
                          <a:latin typeface="Times New Roman" panose="02020603050405020304" pitchFamily="18" charset="0"/>
                          <a:cs typeface="Times New Roman" panose="02020603050405020304" pitchFamily="18" charset="0"/>
                        </a:rPr>
                        <a:t>, Marek </a:t>
                      </a:r>
                      <a:r>
                        <a:rPr lang="en-IN" sz="1500" dirty="0" err="1">
                          <a:latin typeface="Times New Roman" panose="02020603050405020304" pitchFamily="18" charset="0"/>
                          <a:cs typeface="Times New Roman" panose="02020603050405020304" pitchFamily="18" charset="0"/>
                        </a:rPr>
                        <a:t>Kobulsky</a:t>
                      </a:r>
                      <a:endParaRPr lang="sv-SE" sz="15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1500" dirty="0">
                          <a:latin typeface="Times New Roman" panose="02020603050405020304" pitchFamily="18" charset="0"/>
                          <a:cs typeface="Times New Roman" panose="02020603050405020304" pitchFamily="18" charset="0"/>
                        </a:rPr>
                        <a:t>Uses business transaction data; applies analytical modeling and statistical techniques for CLV estimation.</a:t>
                      </a:r>
                    </a:p>
                  </a:txBody>
                  <a:tcPr/>
                </a:tc>
                <a:tc>
                  <a:txBody>
                    <a:bodyPr/>
                    <a:lstStyle/>
                    <a:p>
                      <a:pPr algn="ctr">
                        <a:lnSpc>
                          <a:spcPct val="150000"/>
                        </a:lnSpc>
                      </a:pPr>
                      <a:r>
                        <a:rPr lang="en-US" sz="1500" dirty="0">
                          <a:latin typeface="Times New Roman" panose="02020603050405020304" pitchFamily="18" charset="0"/>
                          <a:cs typeface="Times New Roman" panose="02020603050405020304" pitchFamily="18" charset="0"/>
                        </a:rPr>
                        <a:t>Develops a structured approach to predict CLV, integrating various customer metrics for better decision-making.</a:t>
                      </a:r>
                      <a:endParaRPr lang="en-IN" sz="15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1500" dirty="0">
                          <a:latin typeface="Times New Roman" panose="02020603050405020304" pitchFamily="18" charset="0"/>
                          <a:cs typeface="Times New Roman" panose="02020603050405020304" pitchFamily="18" charset="0"/>
                        </a:rPr>
                        <a:t>Model accuracy depends on data quality; industry-specific factors may affect generalization.</a:t>
                      </a:r>
                    </a:p>
                  </a:txBody>
                  <a:tcPr anchor="ctr"/>
                </a:tc>
                <a:tc>
                  <a:txBody>
                    <a:bodyPr/>
                    <a:lstStyle/>
                    <a:p>
                      <a:pPr algn="ctr">
                        <a:lnSpc>
                          <a:spcPct val="150000"/>
                        </a:lnSpc>
                      </a:pPr>
                      <a:r>
                        <a:rPr lang="en-US" sz="1500" dirty="0">
                          <a:latin typeface="Times New Roman" panose="02020603050405020304" pitchFamily="18" charset="0"/>
                          <a:cs typeface="Times New Roman" panose="02020603050405020304" pitchFamily="18" charset="0"/>
                        </a:rPr>
                        <a:t>Analytical models improve CLV forecasting, helping businesses enhance customer segmentation and revenue strategies.</a:t>
                      </a:r>
                    </a:p>
                  </a:txBody>
                  <a:tcPr anchor="ctr"/>
                </a:tc>
                <a:extLst>
                  <a:ext uri="{0D108BD9-81ED-4DB2-BD59-A6C34878D82A}">
                    <a16:rowId xmlns:a16="http://schemas.microsoft.com/office/drawing/2014/main" val="512057692"/>
                  </a:ext>
                </a:extLst>
              </a:tr>
            </a:tbl>
          </a:graphicData>
        </a:graphic>
      </p:graphicFrame>
    </p:spTree>
    <p:extLst>
      <p:ext uri="{BB962C8B-B14F-4D97-AF65-F5344CB8AC3E}">
        <p14:creationId xmlns:p14="http://schemas.microsoft.com/office/powerpoint/2010/main" val="642480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85E9-707C-21C9-9D0C-DB1A09E84DB0}"/>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EXISTING SYSTEM</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F51A058-8C9F-3C3D-3AFD-7AD79BBC88F7}"/>
              </a:ext>
            </a:extLst>
          </p:cNvPr>
          <p:cNvSpPr>
            <a:spLocks noGrp="1"/>
          </p:cNvSpPr>
          <p:nvPr>
            <p:ph idx="1"/>
          </p:nvPr>
        </p:nvSpPr>
        <p:spPr>
          <a:xfrm>
            <a:off x="501445" y="1845734"/>
            <a:ext cx="11228439" cy="4397750"/>
          </a:xfrm>
        </p:spPr>
        <p:txBody>
          <a:bodyPr>
            <a:noAutofit/>
          </a:bodyPr>
          <a:lstStyle/>
          <a:p>
            <a:pPr marL="201168" lvl="1" indent="0" algn="just">
              <a:lnSpc>
                <a:spcPct val="150000"/>
              </a:lnSpc>
              <a:buNone/>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	</a:t>
            </a:r>
          </a:p>
          <a:p>
            <a:pPr marL="201168" lvl="1" indent="0" algn="just">
              <a:lnSpc>
                <a:spcPct val="150000"/>
              </a:lnSpc>
              <a:buNone/>
            </a:pPr>
            <a:r>
              <a:rPr lang="en-IN" sz="1600" dirty="0">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The traditional approach to Customer Lifetime Value (CLV) prediction primarily depends on statistical techniques, rule-based frameworks, and fundamental regression models to estimate a customer’s long-term worth to a business. One widely adopted method is Recency, Frequency, and Monetary (RFM) analysis, which segments customers based on their past purchasing behaviours and assigns scores to determine their likelihood of continued engagement. </a:t>
            </a:r>
          </a:p>
          <a:p>
            <a:pPr lvl="1" algn="just">
              <a:lnSpc>
                <a:spcPct val="150000"/>
              </a:lnSpc>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01168" lvl="1" indent="0" algn="just">
              <a:lnSpc>
                <a:spcPct val="150000"/>
              </a:lnSpc>
              <a:buNone/>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	While RFM analysis is straightforward and easy to interpret, it lacks predictive accuracy and does not incorporate the uncertainties associated with customer activity over time. Additionally, many businesses employ cohort analysis, a technique that categorizes customers based on their acquisition period and observes their spending patterns. Although cohort analysis provides useful insights into customer retention trends, it assumes a level of consistency in customer behaviour across different timeframes, which may not align with the rapidly evolving nature of consumer preferences and market dynamics.</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692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BA7DAF-BB8C-90C8-16DA-49914B8DAB6D}"/>
              </a:ext>
            </a:extLst>
          </p:cNvPr>
          <p:cNvSpPr>
            <a:spLocks noGrp="1"/>
          </p:cNvSpPr>
          <p:nvPr>
            <p:ph idx="1"/>
          </p:nvPr>
        </p:nvSpPr>
        <p:spPr>
          <a:xfrm>
            <a:off x="5810864" y="1845733"/>
            <a:ext cx="6007509" cy="4456743"/>
          </a:xfrm>
        </p:spPr>
        <p:txBody>
          <a:bodyPr>
            <a:noAutofit/>
          </a:bodyPr>
          <a:lstStyle/>
          <a:p>
            <a:pPr indent="0" algn="just">
              <a:lnSpc>
                <a:spcPct val="150000"/>
              </a:lnSpc>
              <a:spcAft>
                <a:spcPts val="800"/>
              </a:spcAft>
              <a:buNone/>
            </a:pPr>
            <a:r>
              <a:rPr lang="en-IN" sz="1500" dirty="0">
                <a:effectLst/>
                <a:latin typeface="Times New Roman" panose="02020603050405020304" pitchFamily="18" charset="0"/>
                <a:ea typeface="Calibri" panose="020F0502020204030204" pitchFamily="34" charset="0"/>
                <a:cs typeface="Times New Roman" panose="02020603050405020304" pitchFamily="18" charset="0"/>
              </a:rPr>
              <a:t>	The block diagram in visually represents the workflow of the proposed approach for predicting Customer Lifetime Value (CLV) using probabilistic models. It consists of multiple sequential steps that guide the process, from loading the dataset to the final classification of customers based on their estimated CLV. </a:t>
            </a:r>
            <a:r>
              <a:rPr lang="en-IN" sz="1500" dirty="0">
                <a:effectLst/>
                <a:latin typeface="Times New Roman" panose="02020603050405020304" pitchFamily="18" charset="0"/>
                <a:ea typeface="Calibri" panose="020F0502020204030204" pitchFamily="34" charset="0"/>
              </a:rPr>
              <a:t>The first step in the process is loading the dataset, which contains transaction records of customers, including details such as purchase dates, amounts spent, and customer IDs. This dataset, sourced from the UCI Machine Learning Repository, serves as the foundation for further analysis. Once the dataset is loaded, the next step is data cleaning and manipulation to prepare it for modelling. This involves handling missing or null values, removing duplicate records, correcting inconsistencies, and formatting the data in a structured way.</a:t>
            </a:r>
            <a:endParaRPr lang="en-IN" sz="1500" dirty="0"/>
          </a:p>
        </p:txBody>
      </p:sp>
      <p:pic>
        <p:nvPicPr>
          <p:cNvPr id="4" name="Image 10">
            <a:extLst>
              <a:ext uri="{FF2B5EF4-FFF2-40B4-BE49-F238E27FC236}">
                <a16:creationId xmlns:a16="http://schemas.microsoft.com/office/drawing/2014/main" id="{08DEB499-7F46-993D-6D90-D994742703AD}"/>
              </a:ext>
            </a:extLst>
          </p:cNvPr>
          <p:cNvPicPr>
            <a:picLocks/>
          </p:cNvPicPr>
          <p:nvPr/>
        </p:nvPicPr>
        <p:blipFill>
          <a:blip r:embed="rId2" cstate="print"/>
          <a:stretch>
            <a:fillRect/>
          </a:stretch>
        </p:blipFill>
        <p:spPr>
          <a:xfrm>
            <a:off x="752034" y="1966451"/>
            <a:ext cx="4827905" cy="4011561"/>
          </a:xfrm>
          <a:prstGeom prst="rect">
            <a:avLst/>
          </a:prstGeom>
        </p:spPr>
      </p:pic>
    </p:spTree>
    <p:extLst>
      <p:ext uri="{BB962C8B-B14F-4D97-AF65-F5344CB8AC3E}">
        <p14:creationId xmlns:p14="http://schemas.microsoft.com/office/powerpoint/2010/main" val="1231768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94DDC-4FA2-1A44-E4FE-34B0310B2899}"/>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PROPOSED SYSTEM</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FBE15AA-92AD-7496-6ED0-B9C99BB94C64}"/>
              </a:ext>
            </a:extLst>
          </p:cNvPr>
          <p:cNvSpPr>
            <a:spLocks noGrp="1"/>
          </p:cNvSpPr>
          <p:nvPr>
            <p:ph idx="1"/>
          </p:nvPr>
        </p:nvSpPr>
        <p:spPr>
          <a:xfrm>
            <a:off x="727587" y="1845734"/>
            <a:ext cx="10894142" cy="4023360"/>
          </a:xfrm>
        </p:spPr>
        <p:txBody>
          <a:bodyPr>
            <a:normAutofit/>
          </a:bodyPr>
          <a:lstStyle/>
          <a:p>
            <a:pPr marL="201168" lvl="1" indent="0" algn="just">
              <a:lnSpc>
                <a:spcPct val="150000"/>
              </a:lnSpc>
              <a:buNone/>
            </a:pPr>
            <a:r>
              <a:rPr lang="en-IN" sz="1600" dirty="0">
                <a:effectLst/>
                <a:latin typeface="Times New Roman" panose="02020603050405020304" pitchFamily="18" charset="0"/>
                <a:ea typeface="Calibri" panose="020F0502020204030204" pitchFamily="34" charset="0"/>
              </a:rPr>
              <a:t>	</a:t>
            </a:r>
          </a:p>
          <a:p>
            <a:pPr marL="201168" lvl="1" indent="0" algn="just">
              <a:lnSpc>
                <a:spcPct val="150000"/>
              </a:lnSpc>
              <a:buNone/>
            </a:pPr>
            <a:r>
              <a:rPr lang="en-IN" sz="1600" dirty="0">
                <a:latin typeface="Times New Roman" panose="02020603050405020304" pitchFamily="18" charset="0"/>
                <a:ea typeface="Calibri" panose="020F0502020204030204" pitchFamily="34" charset="0"/>
              </a:rPr>
              <a:t>	</a:t>
            </a:r>
            <a:r>
              <a:rPr lang="en-IN" sz="1600" dirty="0">
                <a:effectLst/>
                <a:latin typeface="Times New Roman" panose="02020603050405020304" pitchFamily="18" charset="0"/>
                <a:ea typeface="Calibri" panose="020F0502020204030204" pitchFamily="34" charset="0"/>
              </a:rPr>
              <a:t>The system follows a well-structured workflow that begins with data collection and preprocessing, where raw customer transaction records are gathered, cleaned, and aggregated to extract meaningful features essential for CLV estimation. This preprocessing step involves handling missing values, removing inconsistencies, and ensuring data quality before transforming transactional data into recency, frequency, and monetary value (RFM) metrics, which serve as the foundation for predictive modelling. Once the data is processed, Exploratory Data Analysis (EDA) is performed to uncover hidden patterns in customer purchasing behaviour, such as identifying customers with frequent purchases, high spending tendencies, or varying retention rates over time. This step provides valuable insights into customer engagement trends, transaction frequency distributions, and spending behaviours, enabling businesses to better understand their customer base and refine their strategic approaches to retention and marketing.</a:t>
            </a:r>
            <a:endParaRPr lang="en-IN" dirty="0"/>
          </a:p>
        </p:txBody>
      </p:sp>
    </p:spTree>
    <p:extLst>
      <p:ext uri="{BB962C8B-B14F-4D97-AF65-F5344CB8AC3E}">
        <p14:creationId xmlns:p14="http://schemas.microsoft.com/office/powerpoint/2010/main" val="3366986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3B6BC0-E5EE-8C51-1DDE-9B0ED614CD33}"/>
              </a:ext>
            </a:extLst>
          </p:cNvPr>
          <p:cNvSpPr>
            <a:spLocks noGrp="1"/>
          </p:cNvSpPr>
          <p:nvPr>
            <p:ph idx="1"/>
          </p:nvPr>
        </p:nvSpPr>
        <p:spPr>
          <a:xfrm>
            <a:off x="304800" y="1740311"/>
            <a:ext cx="11375923" cy="4552334"/>
          </a:xfrm>
        </p:spPr>
        <p:txBody>
          <a:bodyPr>
            <a:noAutofit/>
          </a:bodyPr>
          <a:lstStyle/>
          <a:p>
            <a:pPr marL="201168" lvl="1" indent="0" algn="just">
              <a:lnSpc>
                <a:spcPct val="150000"/>
              </a:lnSpc>
              <a:buNone/>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	Once CLV is estimated, the system segments customers into different value groups, such as high-value, moderate-value, and low-value customers, allowing businesses to tailor their marketing and retention strategies accordingly. High-value customers, for instance, may receive exclusive offers, personalized discounts, or loyalty rewards, while lower-value customers may be targeted with re-engagement campaigns to encourage repeat purchases. This segmentation enables businesses to prioritize customer engagement efforts, allocate marketing budgets more effectively, and enhance overall customer satisfaction while optimizing revenue generation. </a:t>
            </a:r>
          </a:p>
          <a:p>
            <a:pPr marL="201168" lvl="1" indent="0" algn="just">
              <a:lnSpc>
                <a:spcPct val="150000"/>
              </a:lnSpc>
              <a:buNone/>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	To make these insights easily accessible, the system is deployed as an interactive web application using </a:t>
            </a:r>
            <a:r>
              <a:rPr lang="en-IN" sz="1600" dirty="0" err="1">
                <a:effectLst/>
                <a:latin typeface="Times New Roman" panose="02020603050405020304" pitchFamily="18" charset="0"/>
                <a:ea typeface="Calibri" panose="020F0502020204030204" pitchFamily="34" charset="0"/>
                <a:cs typeface="Times New Roman" panose="02020603050405020304" pitchFamily="18" charset="0"/>
              </a:rPr>
              <a:t>Streamlit</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 providing businesses with a user-friendly interface where they can input customer data, visualize CLV predictions, and generate actionable reports in real time. This web-based approach ensures that CLV analysis is not only data-driven but also intuitive and interactive, allowing non-technical users to benefit from predictive analytics without requiring deep expertise in data science.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201168" lvl="1" indent="0" algn="just">
              <a:lnSpc>
                <a:spcPct val="150000"/>
              </a:lnSpc>
              <a:buNone/>
            </a:pPr>
            <a:r>
              <a:rPr lang="en-IN" sz="1600" dirty="0">
                <a:effectLst/>
                <a:latin typeface="Times New Roman" panose="02020603050405020304" pitchFamily="18" charset="0"/>
                <a:ea typeface="Calibri" panose="020F0502020204030204" pitchFamily="34" charset="0"/>
              </a:rPr>
              <a:t>	Through a combination of traditional statistical methods and modern machine learning techniques, this system provides a holistic approach to CLV prediction, ensuring that businesses can not only understand customer value but also take proactive steps to enhance customer loyalty and maximize lifetime revenue potential.</a:t>
            </a:r>
            <a:endParaRPr lang="en-IN" sz="1600" dirty="0"/>
          </a:p>
        </p:txBody>
      </p:sp>
    </p:spTree>
    <p:extLst>
      <p:ext uri="{BB962C8B-B14F-4D97-AF65-F5344CB8AC3E}">
        <p14:creationId xmlns:p14="http://schemas.microsoft.com/office/powerpoint/2010/main" val="917312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DAAB-09E9-2BDD-9976-03AC6F074ED1}"/>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SOFTWARE REQUIREMENTS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A99AB9-DCBF-2931-3011-45BC533987F7}"/>
              </a:ext>
            </a:extLst>
          </p:cNvPr>
          <p:cNvSpPr>
            <a:spLocks noGrp="1"/>
          </p:cNvSpPr>
          <p:nvPr>
            <p:ph idx="1"/>
          </p:nvPr>
        </p:nvSpPr>
        <p:spPr/>
        <p:txBody>
          <a:bodyPr>
            <a:normAutofit/>
          </a:bodyPr>
          <a:lstStyle/>
          <a:p>
            <a:pPr algn="just">
              <a:lnSpc>
                <a:spcPct val="150000"/>
              </a:lnSpc>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Programming Language:</a:t>
            </a:r>
            <a:r>
              <a:rPr lang="en-US" sz="1600" dirty="0">
                <a:solidFill>
                  <a:schemeClr val="tx1"/>
                </a:solidFill>
                <a:latin typeface="Times New Roman" panose="02020603050405020304" pitchFamily="18" charset="0"/>
                <a:cs typeface="Times New Roman" panose="02020603050405020304" pitchFamily="18" charset="0"/>
              </a:rPr>
              <a:t>  Python (3.8 or higher) </a:t>
            </a:r>
          </a:p>
          <a:p>
            <a:pPr algn="just">
              <a:lnSpc>
                <a:spcPct val="150000"/>
              </a:lnSpc>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Development Environment: </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Jupyter</a:t>
            </a:r>
            <a:r>
              <a:rPr lang="en-US" sz="1600" dirty="0">
                <a:solidFill>
                  <a:schemeClr val="tx1"/>
                </a:solidFill>
                <a:latin typeface="Times New Roman" panose="02020603050405020304" pitchFamily="18" charset="0"/>
                <a:cs typeface="Times New Roman" panose="02020603050405020304" pitchFamily="18" charset="0"/>
              </a:rPr>
              <a:t> Notebook, VS Code, PyCharm </a:t>
            </a:r>
          </a:p>
          <a:p>
            <a:pPr algn="just">
              <a:lnSpc>
                <a:spcPct val="150000"/>
              </a:lnSpc>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Dataset: </a:t>
            </a:r>
            <a:r>
              <a:rPr lang="en-US" sz="1600" dirty="0">
                <a:solidFill>
                  <a:schemeClr val="tx1"/>
                </a:solidFill>
                <a:latin typeface="Times New Roman" panose="02020603050405020304" pitchFamily="18" charset="0"/>
                <a:cs typeface="Times New Roman" panose="02020603050405020304" pitchFamily="18" charset="0"/>
              </a:rPr>
              <a:t> Online Retail Dataset (CSV Format) </a:t>
            </a:r>
          </a:p>
          <a:p>
            <a:pPr algn="just">
              <a:lnSpc>
                <a:spcPct val="150000"/>
              </a:lnSpc>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Model Training &amp; Storage:</a:t>
            </a:r>
            <a:r>
              <a:rPr lang="en-US" sz="1600" dirty="0">
                <a:solidFill>
                  <a:schemeClr val="tx1"/>
                </a:solidFill>
                <a:latin typeface="Times New Roman" panose="02020603050405020304" pitchFamily="18" charset="0"/>
                <a:cs typeface="Times New Roman" panose="02020603050405020304" pitchFamily="18" charset="0"/>
              </a:rPr>
              <a:t>  Pre-trained models (BG/NBD, Gamma-Gamma, </a:t>
            </a:r>
            <a:r>
              <a:rPr lang="en-US" sz="1600" dirty="0" err="1">
                <a:solidFill>
                  <a:schemeClr val="tx1"/>
                </a:solidFill>
                <a:latin typeface="Times New Roman" panose="02020603050405020304" pitchFamily="18" charset="0"/>
                <a:cs typeface="Times New Roman" panose="02020603050405020304" pitchFamily="18" charset="0"/>
              </a:rPr>
              <a:t>XGBoost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LightGBM</a:t>
            </a:r>
            <a:r>
              <a:rPr lang="en-US" sz="1600" dirty="0">
                <a:solidFill>
                  <a:schemeClr val="tx1"/>
                </a:solidFill>
                <a:latin typeface="Times New Roman" panose="02020603050405020304" pitchFamily="18" charset="0"/>
                <a:cs typeface="Times New Roman" panose="02020603050405020304" pitchFamily="18" charset="0"/>
              </a:rPr>
              <a:t>) </a:t>
            </a:r>
          </a:p>
          <a:p>
            <a:pPr algn="just">
              <a:lnSpc>
                <a:spcPct val="150000"/>
              </a:lnSpc>
              <a:buFont typeface="Arial" panose="020B0604020202020204" pitchFamily="34" charset="0"/>
              <a:buChar char="•"/>
            </a:pPr>
            <a:r>
              <a:rPr lang="en-US" sz="1600" b="1" dirty="0">
                <a:solidFill>
                  <a:schemeClr val="tx1"/>
                </a:solidFill>
                <a:latin typeface="Times New Roman" panose="02020603050405020304" pitchFamily="18" charset="0"/>
                <a:cs typeface="Times New Roman" panose="02020603050405020304" pitchFamily="18" charset="0"/>
              </a:rPr>
              <a:t>Hardware Requirements:</a:t>
            </a:r>
            <a:r>
              <a:rPr lang="en-US" sz="1600" dirty="0">
                <a:solidFill>
                  <a:schemeClr val="tx1"/>
                </a:solidFill>
                <a:latin typeface="Times New Roman" panose="02020603050405020304" pitchFamily="18" charset="0"/>
                <a:cs typeface="Times New Roman" panose="02020603050405020304" pitchFamily="18" charset="0"/>
              </a:rPr>
              <a:t>  Intel i5/AMD equivalent, 8GB RAM (16GB recommended), 10GB free storage, GPU (optional)</a:t>
            </a:r>
          </a:p>
          <a:p>
            <a:pPr algn="just">
              <a:lnSpc>
                <a:spcPct val="150000"/>
              </a:lnSpc>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Deployment &amp; Hosting: </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Streamlit</a:t>
            </a:r>
            <a:r>
              <a:rPr lang="en-US" sz="1600" dirty="0">
                <a:solidFill>
                  <a:schemeClr val="tx1"/>
                </a:solidFill>
                <a:latin typeface="Times New Roman" panose="02020603050405020304" pitchFamily="18" charset="0"/>
                <a:cs typeface="Times New Roman" panose="02020603050405020304" pitchFamily="18" charset="0"/>
              </a:rPr>
              <a:t> (local), </a:t>
            </a:r>
            <a:r>
              <a:rPr lang="en-US" sz="1600" dirty="0" err="1">
                <a:solidFill>
                  <a:schemeClr val="tx1"/>
                </a:solidFill>
                <a:latin typeface="Times New Roman" panose="02020603050405020304" pitchFamily="18" charset="0"/>
                <a:cs typeface="Times New Roman" panose="02020603050405020304" pitchFamily="18" charset="0"/>
              </a:rPr>
              <a:t>Streamlit</a:t>
            </a:r>
            <a:r>
              <a:rPr lang="en-US" sz="1600" dirty="0">
                <a:solidFill>
                  <a:schemeClr val="tx1"/>
                </a:solidFill>
                <a:latin typeface="Times New Roman" panose="02020603050405020304" pitchFamily="18" charset="0"/>
                <a:cs typeface="Times New Roman" panose="02020603050405020304" pitchFamily="18" charset="0"/>
              </a:rPr>
              <a:t> Cloud, AWS, Heroku, Google Cloud </a:t>
            </a:r>
            <a:endParaRPr lang="en-IN"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8977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6C8D8-19E7-FD00-14AD-DC2CF28700A8}"/>
              </a:ext>
            </a:extLst>
          </p:cNvPr>
          <p:cNvSpPr>
            <a:spLocks noGrp="1"/>
          </p:cNvSpPr>
          <p:nvPr>
            <p:ph type="title"/>
          </p:nvPr>
        </p:nvSpPr>
        <p:spPr>
          <a:xfrm>
            <a:off x="457200" y="245806"/>
            <a:ext cx="3200400" cy="1386349"/>
          </a:xfrm>
        </p:spPr>
        <p:txBody>
          <a:bodyPr>
            <a:normAutofit fontScale="90000"/>
          </a:bodyPr>
          <a:lstStyle/>
          <a:p>
            <a:pPr algn="ctr">
              <a:lnSpc>
                <a:spcPct val="150000"/>
              </a:lnSpc>
            </a:pPr>
            <a:r>
              <a:rPr lang="en-US" sz="3200" b="1" dirty="0">
                <a:latin typeface="Times New Roman" panose="02020603050405020304" pitchFamily="18" charset="0"/>
                <a:cs typeface="Times New Roman" panose="02020603050405020304" pitchFamily="18" charset="0"/>
              </a:rPr>
              <a:t>CLASS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DIAGRAM</a:t>
            </a:r>
            <a:endParaRPr lang="en-IN" sz="32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F9ED4409-2C06-FF8E-CDBF-1C21FA5F812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704" r="6102"/>
          <a:stretch/>
        </p:blipFill>
        <p:spPr>
          <a:xfrm>
            <a:off x="4120244" y="1130710"/>
            <a:ext cx="8070729" cy="4522838"/>
          </a:xfrm>
        </p:spPr>
      </p:pic>
      <p:sp>
        <p:nvSpPr>
          <p:cNvPr id="4" name="Text Placeholder 3">
            <a:extLst>
              <a:ext uri="{FF2B5EF4-FFF2-40B4-BE49-F238E27FC236}">
                <a16:creationId xmlns:a16="http://schemas.microsoft.com/office/drawing/2014/main" id="{42829D89-5A26-4CC4-8A3C-2D131B9093CB}"/>
              </a:ext>
            </a:extLst>
          </p:cNvPr>
          <p:cNvSpPr>
            <a:spLocks noGrp="1"/>
          </p:cNvSpPr>
          <p:nvPr>
            <p:ph type="body" sz="half" idx="2"/>
          </p:nvPr>
        </p:nvSpPr>
        <p:spPr>
          <a:xfrm>
            <a:off x="167148" y="1632155"/>
            <a:ext cx="3726426" cy="5073445"/>
          </a:xfrm>
        </p:spPr>
        <p:txBody>
          <a:bodyPr>
            <a:normAutofit/>
          </a:bodyPr>
          <a:lstStyle/>
          <a:p>
            <a:pPr algn="just">
              <a:lnSpc>
                <a:spcPct val="150000"/>
              </a:lnSpc>
            </a:pPr>
            <a:r>
              <a:rPr lang="en-IN" sz="1600" dirty="0">
                <a:effectLst/>
                <a:latin typeface="Times New Roman" panose="02020603050405020304" pitchFamily="18" charset="0"/>
                <a:ea typeface="Calibri" panose="020F0502020204030204" pitchFamily="34" charset="0"/>
              </a:rPr>
              <a:t>	</a:t>
            </a:r>
          </a:p>
          <a:p>
            <a:pPr algn="just">
              <a:lnSpc>
                <a:spcPct val="150000"/>
              </a:lnSpc>
            </a:pPr>
            <a:r>
              <a:rPr lang="en-IN" sz="1600" dirty="0">
                <a:latin typeface="Times New Roman" panose="02020603050405020304" pitchFamily="18" charset="0"/>
                <a:ea typeface="Calibri" panose="020F0502020204030204" pitchFamily="34" charset="0"/>
              </a:rPr>
              <a:t>	</a:t>
            </a:r>
            <a:r>
              <a:rPr lang="en-IN" sz="1600" dirty="0">
                <a:effectLst/>
                <a:latin typeface="Times New Roman" panose="02020603050405020304" pitchFamily="18" charset="0"/>
                <a:ea typeface="Calibri" panose="020F0502020204030204" pitchFamily="34" charset="0"/>
              </a:rPr>
              <a:t>The provided UML diagram outlines the architecture of a Customer Lifetime Value (CLV) prediction system, incorporating probabilistic modelling and machine learning techniques within a </a:t>
            </a:r>
            <a:r>
              <a:rPr lang="en-IN" sz="1600" dirty="0" err="1">
                <a:effectLst/>
                <a:latin typeface="Times New Roman" panose="02020603050405020304" pitchFamily="18" charset="0"/>
                <a:ea typeface="Calibri" panose="020F0502020204030204" pitchFamily="34" charset="0"/>
              </a:rPr>
              <a:t>Streamlit</a:t>
            </a:r>
            <a:r>
              <a:rPr lang="en-IN" sz="1600" dirty="0">
                <a:effectLst/>
                <a:latin typeface="Times New Roman" panose="02020603050405020304" pitchFamily="18" charset="0"/>
                <a:ea typeface="Calibri" panose="020F0502020204030204" pitchFamily="34" charset="0"/>
              </a:rPr>
              <a:t>-based web application. The system consists of several key components, each responsible for different stages of data processing, modelling, and prediction. At the highest level, the </a:t>
            </a:r>
            <a:r>
              <a:rPr lang="en-IN" sz="1600" dirty="0" err="1">
                <a:effectLst/>
                <a:latin typeface="Times New Roman" panose="02020603050405020304" pitchFamily="18" charset="0"/>
                <a:ea typeface="Calibri" panose="020F0502020204030204" pitchFamily="34" charset="0"/>
              </a:rPr>
              <a:t>StreamlitApp</a:t>
            </a:r>
            <a:r>
              <a:rPr lang="en-IN" sz="1600" dirty="0">
                <a:effectLst/>
                <a:latin typeface="Times New Roman" panose="02020603050405020304" pitchFamily="18" charset="0"/>
                <a:ea typeface="Calibri" panose="020F0502020204030204" pitchFamily="34" charset="0"/>
              </a:rPr>
              <a:t> class serves as the front-end interface, allowing users to input data and view predictions.</a:t>
            </a:r>
            <a:endParaRPr lang="en-IN" sz="1400" dirty="0"/>
          </a:p>
        </p:txBody>
      </p:sp>
    </p:spTree>
    <p:extLst>
      <p:ext uri="{BB962C8B-B14F-4D97-AF65-F5344CB8AC3E}">
        <p14:creationId xmlns:p14="http://schemas.microsoft.com/office/powerpoint/2010/main" val="1933204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9DCB4-95E2-3C45-B18D-454086D40C9E}"/>
              </a:ext>
            </a:extLst>
          </p:cNvPr>
          <p:cNvSpPr>
            <a:spLocks noGrp="1"/>
          </p:cNvSpPr>
          <p:nvPr>
            <p:ph type="title"/>
          </p:nvPr>
        </p:nvSpPr>
        <p:spPr>
          <a:xfrm>
            <a:off x="457200" y="186813"/>
            <a:ext cx="3200400" cy="1484671"/>
          </a:xfrm>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FLOW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CHART</a:t>
            </a:r>
            <a:endParaRPr lang="en-IN" sz="32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BA87E6D9-390B-7F34-7148-7393937BB95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5221" r="17126"/>
          <a:stretch/>
        </p:blipFill>
        <p:spPr>
          <a:xfrm>
            <a:off x="5565058" y="-3708"/>
            <a:ext cx="4965289" cy="6878724"/>
          </a:xfrm>
        </p:spPr>
      </p:pic>
      <p:sp>
        <p:nvSpPr>
          <p:cNvPr id="4" name="Text Placeholder 3">
            <a:extLst>
              <a:ext uri="{FF2B5EF4-FFF2-40B4-BE49-F238E27FC236}">
                <a16:creationId xmlns:a16="http://schemas.microsoft.com/office/drawing/2014/main" id="{D7D238C8-D744-541B-0849-75D68F10805E}"/>
              </a:ext>
            </a:extLst>
          </p:cNvPr>
          <p:cNvSpPr>
            <a:spLocks noGrp="1"/>
          </p:cNvSpPr>
          <p:nvPr>
            <p:ph type="body" sz="half" idx="2"/>
          </p:nvPr>
        </p:nvSpPr>
        <p:spPr>
          <a:xfrm>
            <a:off x="294968" y="1740309"/>
            <a:ext cx="3588774" cy="4930877"/>
          </a:xfrm>
        </p:spPr>
        <p:txBody>
          <a:bodyPr>
            <a:normAutofit fontScale="92500"/>
          </a:bodyPr>
          <a:lstStyle/>
          <a:p>
            <a:pPr algn="just">
              <a:lnSpc>
                <a:spcPct val="150000"/>
              </a:lnSpc>
            </a:pPr>
            <a:endParaRPr lang="en-IN" sz="1600" dirty="0">
              <a:latin typeface="Times New Roman" panose="02020603050405020304" pitchFamily="18" charset="0"/>
              <a:ea typeface="Calibri" panose="020F0502020204030204" pitchFamily="34" charset="0"/>
            </a:endParaRPr>
          </a:p>
          <a:p>
            <a:pPr algn="just">
              <a:lnSpc>
                <a:spcPct val="150000"/>
              </a:lnSpc>
            </a:pPr>
            <a:r>
              <a:rPr lang="en-IN" sz="1600" dirty="0">
                <a:effectLst/>
                <a:latin typeface="Times New Roman" panose="02020603050405020304" pitchFamily="18" charset="0"/>
                <a:ea typeface="Calibri" panose="020F0502020204030204" pitchFamily="34" charset="0"/>
              </a:rPr>
              <a:t>	The given flowchart represents a hybrid approach for predicting Customer Lifetime Value (CLV) by leveraging both probabilistic modelling and machine learning techniques. The process begins with loading and preprocessing the data, where raw customer transaction data is cleaned, structured, and prepared for further analysis. From this step, the workflow diverges into two parallel approaches Probabilistic Modelling and Machine Learning. </a:t>
            </a:r>
            <a:endParaRPr lang="en-IN" sz="1400" dirty="0"/>
          </a:p>
        </p:txBody>
      </p:sp>
    </p:spTree>
    <p:extLst>
      <p:ext uri="{BB962C8B-B14F-4D97-AF65-F5344CB8AC3E}">
        <p14:creationId xmlns:p14="http://schemas.microsoft.com/office/powerpoint/2010/main" val="2044762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77E5-4D62-9F53-258B-1C117D10ACCD}"/>
              </a:ext>
            </a:extLst>
          </p:cNvPr>
          <p:cNvSpPr>
            <a:spLocks noGrp="1"/>
          </p:cNvSpPr>
          <p:nvPr>
            <p:ph type="title"/>
          </p:nvPr>
        </p:nvSpPr>
        <p:spPr>
          <a:xfrm>
            <a:off x="457200" y="176981"/>
            <a:ext cx="3200400" cy="1573161"/>
          </a:xfrm>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SEQUENCE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DIAGRAM</a:t>
            </a:r>
            <a:endParaRPr lang="en-IN" sz="32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025CCBFB-C9BB-A6F8-BC21-A099F3CD6B9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079" r="8724"/>
          <a:stretch/>
        </p:blipFill>
        <p:spPr>
          <a:xfrm>
            <a:off x="4414684" y="563692"/>
            <a:ext cx="7607225" cy="5945263"/>
          </a:xfrm>
        </p:spPr>
      </p:pic>
      <p:sp>
        <p:nvSpPr>
          <p:cNvPr id="4" name="Text Placeholder 3">
            <a:extLst>
              <a:ext uri="{FF2B5EF4-FFF2-40B4-BE49-F238E27FC236}">
                <a16:creationId xmlns:a16="http://schemas.microsoft.com/office/drawing/2014/main" id="{3BF6FD1C-0EFE-F90A-777E-E00D8EC6DF9D}"/>
              </a:ext>
            </a:extLst>
          </p:cNvPr>
          <p:cNvSpPr>
            <a:spLocks noGrp="1"/>
          </p:cNvSpPr>
          <p:nvPr>
            <p:ph type="body" sz="half" idx="2"/>
          </p:nvPr>
        </p:nvSpPr>
        <p:spPr>
          <a:xfrm>
            <a:off x="157317" y="1750141"/>
            <a:ext cx="3775586" cy="4930877"/>
          </a:xfrm>
        </p:spPr>
        <p:txBody>
          <a:bodyPr>
            <a:normAutofit lnSpcReduction="10000"/>
          </a:bodyPr>
          <a:lstStyle/>
          <a:p>
            <a:pPr algn="just">
              <a:lnSpc>
                <a:spcPct val="150000"/>
              </a:lnSpc>
            </a:pPr>
            <a:endParaRPr lang="en-IN" sz="1600" dirty="0">
              <a:effectLst/>
              <a:latin typeface="Times New Roman" panose="02020603050405020304" pitchFamily="18" charset="0"/>
              <a:ea typeface="Calibri" panose="020F0502020204030204" pitchFamily="34" charset="0"/>
            </a:endParaRPr>
          </a:p>
          <a:p>
            <a:pPr algn="just">
              <a:lnSpc>
                <a:spcPct val="150000"/>
              </a:lnSpc>
            </a:pPr>
            <a:r>
              <a:rPr lang="en-IN" sz="1600" dirty="0">
                <a:effectLst/>
                <a:latin typeface="Times New Roman" panose="02020603050405020304" pitchFamily="18" charset="0"/>
                <a:ea typeface="Calibri" panose="020F0502020204030204" pitchFamily="34" charset="0"/>
              </a:rPr>
              <a:t>	The sequence diagram illustrates the workflow of predicting Customer Lifetime Value (CLV) using a web-based interface built with </a:t>
            </a:r>
            <a:r>
              <a:rPr lang="en-IN" sz="1600" dirty="0" err="1">
                <a:effectLst/>
                <a:latin typeface="Times New Roman" panose="02020603050405020304" pitchFamily="18" charset="0"/>
                <a:ea typeface="Calibri" panose="020F0502020204030204" pitchFamily="34" charset="0"/>
              </a:rPr>
              <a:t>Streamlit</a:t>
            </a:r>
            <a:r>
              <a:rPr lang="en-IN" sz="1600" dirty="0">
                <a:effectLst/>
                <a:latin typeface="Times New Roman" panose="02020603050405020304" pitchFamily="18" charset="0"/>
                <a:ea typeface="Calibri" panose="020F0502020204030204" pitchFamily="34" charset="0"/>
              </a:rPr>
              <a:t>. The process begins when the user enters the application, triggering the </a:t>
            </a:r>
            <a:r>
              <a:rPr lang="en-IN" sz="1600" dirty="0" err="1">
                <a:effectLst/>
                <a:latin typeface="Times New Roman" panose="02020603050405020304" pitchFamily="18" charset="0"/>
                <a:ea typeface="Calibri" panose="020F0502020204030204" pitchFamily="34" charset="0"/>
              </a:rPr>
              <a:t>Streamlit</a:t>
            </a:r>
            <a:r>
              <a:rPr lang="en-IN" sz="1600" dirty="0">
                <a:effectLst/>
                <a:latin typeface="Times New Roman" panose="02020603050405020304" pitchFamily="18" charset="0"/>
                <a:ea typeface="Calibri" panose="020F0502020204030204" pitchFamily="34" charset="0"/>
              </a:rPr>
              <a:t> UI to request data loading from the Data Processor. The Data Processor then fetches and processes the necessary transactional data, storing it in the Data Store for further analysis. At this point, the workflow splits into two alternative paths</a:t>
            </a:r>
            <a:endParaRPr lang="en-IN" sz="1400" dirty="0"/>
          </a:p>
        </p:txBody>
      </p:sp>
    </p:spTree>
    <p:extLst>
      <p:ext uri="{BB962C8B-B14F-4D97-AF65-F5344CB8AC3E}">
        <p14:creationId xmlns:p14="http://schemas.microsoft.com/office/powerpoint/2010/main" val="39921649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8F335-D3AF-5AAB-6959-AC592CAD09E1}"/>
              </a:ext>
            </a:extLst>
          </p:cNvPr>
          <p:cNvSpPr>
            <a:spLocks noGrp="1"/>
          </p:cNvSpPr>
          <p:nvPr>
            <p:ph type="title"/>
          </p:nvPr>
        </p:nvSpPr>
        <p:spPr>
          <a:xfrm>
            <a:off x="275303" y="324465"/>
            <a:ext cx="3598607" cy="1415845"/>
          </a:xfrm>
        </p:spPr>
        <p:txBody>
          <a:bodyPr>
            <a:normAutofit fontScale="90000"/>
          </a:bodyPr>
          <a:lstStyle/>
          <a:p>
            <a:pPr algn="ctr">
              <a:lnSpc>
                <a:spcPct val="150000"/>
              </a:lnSpc>
            </a:pPr>
            <a:r>
              <a:rPr lang="en-US" sz="3200" b="1" dirty="0">
                <a:latin typeface="Times New Roman" panose="02020603050405020304" pitchFamily="18" charset="0"/>
                <a:cs typeface="Times New Roman" panose="02020603050405020304" pitchFamily="18" charset="0"/>
              </a:rPr>
              <a:t>ARCHITECTURE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DIAGRAM</a:t>
            </a:r>
            <a:endParaRPr lang="en-IN" sz="32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0F8835D0-BDD6-3132-9523-6167F10914A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6388" b="4168"/>
          <a:stretch/>
        </p:blipFill>
        <p:spPr>
          <a:xfrm>
            <a:off x="4100052" y="1916691"/>
            <a:ext cx="7902105" cy="2960109"/>
          </a:xfrm>
        </p:spPr>
      </p:pic>
      <p:sp>
        <p:nvSpPr>
          <p:cNvPr id="4" name="Text Placeholder 3">
            <a:extLst>
              <a:ext uri="{FF2B5EF4-FFF2-40B4-BE49-F238E27FC236}">
                <a16:creationId xmlns:a16="http://schemas.microsoft.com/office/drawing/2014/main" id="{13788012-A5DA-A274-A6F5-3BAEB03E25E1}"/>
              </a:ext>
            </a:extLst>
          </p:cNvPr>
          <p:cNvSpPr>
            <a:spLocks noGrp="1"/>
          </p:cNvSpPr>
          <p:nvPr>
            <p:ph type="body" sz="half" idx="2"/>
          </p:nvPr>
        </p:nvSpPr>
        <p:spPr>
          <a:xfrm>
            <a:off x="157316" y="1740309"/>
            <a:ext cx="3716594" cy="4994787"/>
          </a:xfrm>
        </p:spPr>
        <p:txBody>
          <a:bodyPr>
            <a:normAutofit fontScale="92500"/>
          </a:bodyPr>
          <a:lstStyle/>
          <a:p>
            <a:pPr algn="just">
              <a:lnSpc>
                <a:spcPct val="150000"/>
              </a:lnSpc>
            </a:pPr>
            <a:endParaRPr lang="en-IN" sz="1600" dirty="0">
              <a:effectLst/>
              <a:latin typeface="Times New Roman" panose="02020603050405020304" pitchFamily="18" charset="0"/>
              <a:ea typeface="Calibri" panose="020F0502020204030204" pitchFamily="34" charset="0"/>
            </a:endParaRPr>
          </a:p>
          <a:p>
            <a:pPr algn="just">
              <a:lnSpc>
                <a:spcPct val="150000"/>
              </a:lnSpc>
            </a:pPr>
            <a:r>
              <a:rPr lang="en-IN" sz="1600" dirty="0">
                <a:effectLst/>
                <a:latin typeface="Times New Roman" panose="02020603050405020304" pitchFamily="18" charset="0"/>
                <a:ea typeface="Calibri" panose="020F0502020204030204" pitchFamily="34" charset="0"/>
              </a:rPr>
              <a:t>	The system architecture consists of multiple interconnected components designed to facilitate Customer Lifetime Value (CLV) prediction and analysis. At the core of the system is the Data Processing module, which retrieves raw customer transaction data from the Data Store, cleanses it, and extracts key features such as recency, frequency, and monetary value. The processed data is then fed into two distinct modelling approaches Probabilistic Models and Machine Learning Models.</a:t>
            </a:r>
            <a:endParaRPr lang="en-IN" sz="1400" dirty="0"/>
          </a:p>
        </p:txBody>
      </p:sp>
    </p:spTree>
    <p:extLst>
      <p:ext uri="{BB962C8B-B14F-4D97-AF65-F5344CB8AC3E}">
        <p14:creationId xmlns:p14="http://schemas.microsoft.com/office/powerpoint/2010/main" val="932170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A556F-8ABA-B714-7F9D-14030C7335AC}"/>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RESULTS</a:t>
            </a:r>
            <a:endParaRPr lang="en-IN" sz="32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B085828C-019B-5259-68C2-77B0C7153F8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76353" y="2251587"/>
            <a:ext cx="5659322" cy="2869054"/>
          </a:xfrm>
        </p:spPr>
      </p:pic>
      <p:sp>
        <p:nvSpPr>
          <p:cNvPr id="4" name="Content Placeholder 3">
            <a:extLst>
              <a:ext uri="{FF2B5EF4-FFF2-40B4-BE49-F238E27FC236}">
                <a16:creationId xmlns:a16="http://schemas.microsoft.com/office/drawing/2014/main" id="{EEA77564-0143-04C7-123E-A5B98B5484D1}"/>
              </a:ext>
            </a:extLst>
          </p:cNvPr>
          <p:cNvSpPr>
            <a:spLocks noGrp="1"/>
          </p:cNvSpPr>
          <p:nvPr>
            <p:ph sz="half" idx="2"/>
          </p:nvPr>
        </p:nvSpPr>
        <p:spPr/>
        <p:txBody>
          <a:bodyPr>
            <a:normAutofit/>
          </a:bodyPr>
          <a:lstStyle/>
          <a:p>
            <a:pPr marL="201168" lvl="1" indent="0" algn="just">
              <a:lnSpc>
                <a:spcPct val="150000"/>
              </a:lnSpc>
              <a:buNone/>
            </a:pPr>
            <a:endParaRPr lang="en-US" sz="1600" dirty="0"/>
          </a:p>
          <a:p>
            <a:pPr marL="201168" lvl="1" indent="0" algn="just">
              <a:lnSpc>
                <a:spcPct val="150000"/>
              </a:lnSpc>
              <a:buNone/>
            </a:pPr>
            <a:r>
              <a:rPr lang="en-US" sz="1600" dirty="0">
                <a:effectLst/>
                <a:latin typeface="Times New Roman" panose="02020603050405020304" pitchFamily="18" charset="0"/>
                <a:ea typeface="Calibri" panose="020F0502020204030204" pitchFamily="34" charset="0"/>
              </a:rPr>
              <a:t>	</a:t>
            </a:r>
            <a:r>
              <a:rPr lang="en-IN" sz="1600" dirty="0">
                <a:effectLst/>
                <a:latin typeface="Times New Roman" panose="02020603050405020304" pitchFamily="18" charset="0"/>
                <a:ea typeface="Calibri" panose="020F0502020204030204" pitchFamily="34" charset="0"/>
              </a:rPr>
              <a:t>The dataset includes several key attributes: Invoice No indicates the transaction ID, and Stock Code represents the unique identifier for each product. The Description column provides the name of the purchased item, while Quantity shows the number of units bought in that transaction. The Invoice Date records the exact date and time of the purchase, and Unit Price specifies the price per unit of the product. </a:t>
            </a:r>
            <a:endParaRPr lang="en-IN" sz="1600" dirty="0"/>
          </a:p>
        </p:txBody>
      </p:sp>
    </p:spTree>
    <p:extLst>
      <p:ext uri="{BB962C8B-B14F-4D97-AF65-F5344CB8AC3E}">
        <p14:creationId xmlns:p14="http://schemas.microsoft.com/office/powerpoint/2010/main" val="1800899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17E9C9-5EE1-EB48-F966-9CA8A3766A76}"/>
              </a:ext>
            </a:extLst>
          </p:cNvPr>
          <p:cNvSpPr>
            <a:spLocks noGrp="1"/>
          </p:cNvSpPr>
          <p:nvPr>
            <p:ph sz="half" idx="1"/>
          </p:nvPr>
        </p:nvSpPr>
        <p:spPr/>
        <p:txBody>
          <a:bodyPr>
            <a:normAutofit/>
          </a:bodyPr>
          <a:lstStyle/>
          <a:p>
            <a:pPr lvl="1" algn="just">
              <a:lnSpc>
                <a:spcPct val="150000"/>
              </a:lnSpc>
            </a:pP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201168" lvl="1" indent="0" algn="just">
              <a:lnSpc>
                <a:spcPct val="150000"/>
              </a:lnSpc>
              <a:buNone/>
            </a:pPr>
            <a:r>
              <a:rPr lang="en-IN" sz="1600" dirty="0">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The dataset consists of multiple data types, including object, integer, and float. The Invoice No, Stock Code, Description, Invoice Date, and Country columns are stored as objects, indicating that they contain categorical or textual data. The Quantity column is of type int64, representing whole numbers, while Unit Price and </a:t>
            </a:r>
            <a:r>
              <a:rPr lang="en-IN" sz="1600" dirty="0" err="1">
                <a:effectLst/>
                <a:latin typeface="Times New Roman" panose="02020603050405020304" pitchFamily="18" charset="0"/>
                <a:ea typeface="Calibri" panose="020F0502020204030204" pitchFamily="34" charset="0"/>
                <a:cs typeface="Times New Roman" panose="02020603050405020304" pitchFamily="18" charset="0"/>
              </a:rPr>
              <a:t>CustomerID</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 are stored as float64, suggesting they contain decimal values.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IN" sz="1600" dirty="0"/>
          </a:p>
        </p:txBody>
      </p:sp>
      <p:pic>
        <p:nvPicPr>
          <p:cNvPr id="6" name="Content Placeholder 5">
            <a:extLst>
              <a:ext uri="{FF2B5EF4-FFF2-40B4-BE49-F238E27FC236}">
                <a16:creationId xmlns:a16="http://schemas.microsoft.com/office/drawing/2014/main" id="{001D81AB-38C9-C09C-8A72-60441FB18FA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67716" y="1760404"/>
            <a:ext cx="3283974" cy="4583799"/>
          </a:xfrm>
        </p:spPr>
      </p:pic>
    </p:spTree>
    <p:extLst>
      <p:ext uri="{BB962C8B-B14F-4D97-AF65-F5344CB8AC3E}">
        <p14:creationId xmlns:p14="http://schemas.microsoft.com/office/powerpoint/2010/main" val="2281524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0AEA973-AF97-4206-79C9-A34324C6C3A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995948" y="1846263"/>
            <a:ext cx="3116826" cy="4467254"/>
          </a:xfrm>
        </p:spPr>
      </p:pic>
      <p:sp>
        <p:nvSpPr>
          <p:cNvPr id="4" name="Content Placeholder 3">
            <a:extLst>
              <a:ext uri="{FF2B5EF4-FFF2-40B4-BE49-F238E27FC236}">
                <a16:creationId xmlns:a16="http://schemas.microsoft.com/office/drawing/2014/main" id="{366DBCD0-A77B-DF57-3E54-646D1FE9A005}"/>
              </a:ext>
            </a:extLst>
          </p:cNvPr>
          <p:cNvSpPr>
            <a:spLocks noGrp="1"/>
          </p:cNvSpPr>
          <p:nvPr>
            <p:ph sz="half" idx="2"/>
          </p:nvPr>
        </p:nvSpPr>
        <p:spPr/>
        <p:txBody>
          <a:bodyPr>
            <a:normAutofit/>
          </a:bodyPr>
          <a:lstStyle/>
          <a:p>
            <a:pPr marL="201168" lvl="1" indent="0" algn="just">
              <a:lnSpc>
                <a:spcPct val="150000"/>
              </a:lnSpc>
              <a:buNone/>
            </a:pPr>
            <a:endParaRPr lang="en-IN" sz="1600" dirty="0">
              <a:effectLst/>
              <a:latin typeface="Times New Roman" panose="02020603050405020304" pitchFamily="18" charset="0"/>
              <a:ea typeface="Calibri" panose="020F0502020204030204" pitchFamily="34" charset="0"/>
            </a:endParaRPr>
          </a:p>
          <a:p>
            <a:pPr marL="201168" lvl="1" indent="0" algn="just">
              <a:lnSpc>
                <a:spcPct val="150000"/>
              </a:lnSpc>
              <a:buNone/>
            </a:pPr>
            <a:r>
              <a:rPr lang="en-IN" sz="1600" dirty="0">
                <a:latin typeface="Times New Roman" panose="02020603050405020304" pitchFamily="18" charset="0"/>
                <a:ea typeface="Calibri" panose="020F0502020204030204" pitchFamily="34" charset="0"/>
              </a:rPr>
              <a:t>	</a:t>
            </a:r>
            <a:r>
              <a:rPr lang="en-IN" sz="1600" dirty="0">
                <a:effectLst/>
                <a:latin typeface="Times New Roman" panose="02020603050405020304" pitchFamily="18" charset="0"/>
                <a:ea typeface="Calibri" panose="020F0502020204030204" pitchFamily="34" charset="0"/>
              </a:rPr>
              <a:t>The dataset "</a:t>
            </a:r>
            <a:r>
              <a:rPr lang="en-IN" sz="1600" dirty="0" err="1">
                <a:effectLst/>
                <a:latin typeface="Times New Roman" panose="02020603050405020304" pitchFamily="18" charset="0"/>
                <a:ea typeface="Calibri" panose="020F0502020204030204" pitchFamily="34" charset="0"/>
              </a:rPr>
              <a:t>cust</a:t>
            </a:r>
            <a:r>
              <a:rPr lang="en-IN" sz="1600" dirty="0">
                <a:effectLst/>
                <a:latin typeface="Times New Roman" panose="02020603050405020304" pitchFamily="18" charset="0"/>
                <a:ea typeface="Calibri" panose="020F0502020204030204" pitchFamily="34" charset="0"/>
              </a:rPr>
              <a:t>" consists of three columns: </a:t>
            </a:r>
            <a:r>
              <a:rPr lang="en-IN" sz="1600" dirty="0" err="1">
                <a:effectLst/>
                <a:latin typeface="Times New Roman" panose="02020603050405020304" pitchFamily="18" charset="0"/>
                <a:ea typeface="Calibri" panose="020F0502020204030204" pitchFamily="34" charset="0"/>
              </a:rPr>
              <a:t>CustomerID</a:t>
            </a:r>
            <a:r>
              <a:rPr lang="en-IN" sz="1600" dirty="0">
                <a:effectLst/>
                <a:latin typeface="Times New Roman" panose="02020603050405020304" pitchFamily="18" charset="0"/>
                <a:ea typeface="Calibri" panose="020F0502020204030204" pitchFamily="34" charset="0"/>
              </a:rPr>
              <a:t>, Invoice No, and amt (amount spent by the customer). It contains 4,339 rows, representing unique customer transactions. The </a:t>
            </a:r>
            <a:r>
              <a:rPr lang="en-IN" sz="1600" dirty="0" err="1">
                <a:effectLst/>
                <a:latin typeface="Times New Roman" panose="02020603050405020304" pitchFamily="18" charset="0"/>
                <a:ea typeface="Calibri" panose="020F0502020204030204" pitchFamily="34" charset="0"/>
              </a:rPr>
              <a:t>CustomerID</a:t>
            </a:r>
            <a:r>
              <a:rPr lang="en-IN" sz="1600" dirty="0">
                <a:effectLst/>
                <a:latin typeface="Times New Roman" panose="02020603050405020304" pitchFamily="18" charset="0"/>
                <a:ea typeface="Calibri" panose="020F0502020204030204" pitchFamily="34" charset="0"/>
              </a:rPr>
              <a:t> column identifies individual customers, while Invoice No represents the number of invoices or purchases made by each customer. From the descriptive statistics, the </a:t>
            </a:r>
            <a:r>
              <a:rPr lang="en-IN" sz="1600" dirty="0" err="1">
                <a:effectLst/>
                <a:latin typeface="Times New Roman" panose="02020603050405020304" pitchFamily="18" charset="0"/>
                <a:ea typeface="Calibri" panose="020F0502020204030204" pitchFamily="34" charset="0"/>
              </a:rPr>
              <a:t>CustomerID</a:t>
            </a:r>
            <a:r>
              <a:rPr lang="en-IN" sz="1600" dirty="0">
                <a:effectLst/>
                <a:latin typeface="Times New Roman" panose="02020603050405020304" pitchFamily="18" charset="0"/>
                <a:ea typeface="Calibri" panose="020F0502020204030204" pitchFamily="34" charset="0"/>
              </a:rPr>
              <a:t> values range from 12,346 to 18,287, showing the spread of unique customers.</a:t>
            </a:r>
            <a:endParaRPr lang="en-IN" dirty="0"/>
          </a:p>
        </p:txBody>
      </p:sp>
    </p:spTree>
    <p:extLst>
      <p:ext uri="{BB962C8B-B14F-4D97-AF65-F5344CB8AC3E}">
        <p14:creationId xmlns:p14="http://schemas.microsoft.com/office/powerpoint/2010/main" val="41061867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1B52BD-1459-3998-9654-2B4FDC9418FE}"/>
              </a:ext>
            </a:extLst>
          </p:cNvPr>
          <p:cNvSpPr>
            <a:spLocks noGrp="1"/>
          </p:cNvSpPr>
          <p:nvPr>
            <p:ph sz="half" idx="1"/>
          </p:nvPr>
        </p:nvSpPr>
        <p:spPr>
          <a:xfrm>
            <a:off x="1097278" y="1845734"/>
            <a:ext cx="4937760" cy="4387918"/>
          </a:xfrm>
        </p:spPr>
        <p:txBody>
          <a:bodyPr>
            <a:noAutofit/>
          </a:bodyPr>
          <a:lstStyle/>
          <a:p>
            <a:pPr algn="just">
              <a:lnSpc>
                <a:spcPct val="150000"/>
              </a:lnSpc>
            </a:pPr>
            <a:endParaRPr lang="en-IN" sz="1600" dirty="0">
              <a:effectLst/>
              <a:latin typeface="Times New Roman" panose="02020603050405020304" pitchFamily="18" charset="0"/>
              <a:ea typeface="Calibri" panose="020F0502020204030204" pitchFamily="34" charset="0"/>
            </a:endParaRPr>
          </a:p>
          <a:p>
            <a:pPr marL="201168" lvl="1" indent="0" algn="just">
              <a:lnSpc>
                <a:spcPct val="150000"/>
              </a:lnSpc>
              <a:buNone/>
            </a:pPr>
            <a:r>
              <a:rPr lang="en-IN" sz="1600" dirty="0">
                <a:latin typeface="Times New Roman" panose="02020603050405020304" pitchFamily="18" charset="0"/>
                <a:ea typeface="Calibri" panose="020F0502020204030204" pitchFamily="34" charset="0"/>
              </a:rPr>
              <a:t>	</a:t>
            </a:r>
            <a:r>
              <a:rPr lang="en-IN" sz="1600" dirty="0">
                <a:effectLst/>
                <a:latin typeface="Times New Roman" panose="02020603050405020304" pitchFamily="18" charset="0"/>
                <a:ea typeface="Calibri" panose="020F0502020204030204" pitchFamily="34" charset="0"/>
              </a:rPr>
              <a:t>The dataset contains 4,339 records, where the 'frequency' column represents the number of repeat purchases made by customers. The summary statistics reveal that the mean frequency is approximately 2.86, with a standard deviation of 5.95, indicating that most customers have low purchase frequency, but some have significantly higher values. The minimum frequency is 0, meaning some customers have only made a single purchase, while the maximum is 131, suggesting a small subset of highly frequent buyers.</a:t>
            </a:r>
            <a:endParaRPr lang="en-IN" sz="1600" dirty="0"/>
          </a:p>
        </p:txBody>
      </p:sp>
      <p:pic>
        <p:nvPicPr>
          <p:cNvPr id="6" name="Content Placeholder 5">
            <a:extLst>
              <a:ext uri="{FF2B5EF4-FFF2-40B4-BE49-F238E27FC236}">
                <a16:creationId xmlns:a16="http://schemas.microsoft.com/office/drawing/2014/main" id="{F68D00C1-CBC6-9DFB-D3B7-7846A60717A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29222" y="1849581"/>
            <a:ext cx="4115157" cy="4016088"/>
          </a:xfrm>
        </p:spPr>
      </p:pic>
    </p:spTree>
    <p:extLst>
      <p:ext uri="{BB962C8B-B14F-4D97-AF65-F5344CB8AC3E}">
        <p14:creationId xmlns:p14="http://schemas.microsoft.com/office/powerpoint/2010/main" val="1017485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66D57-7D08-C330-36E4-0D08011E3836}"/>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CONCLUSION </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26FB54-3181-84A3-7F9C-E862BB3ED450}"/>
              </a:ext>
            </a:extLst>
          </p:cNvPr>
          <p:cNvSpPr>
            <a:spLocks noGrp="1"/>
          </p:cNvSpPr>
          <p:nvPr>
            <p:ph idx="1"/>
          </p:nvPr>
        </p:nvSpPr>
        <p:spPr>
          <a:xfrm>
            <a:off x="786581" y="1845734"/>
            <a:ext cx="10874477" cy="4023360"/>
          </a:xfrm>
        </p:spPr>
        <p:txBody>
          <a:bodyPr>
            <a:normAutofit/>
          </a:bodyPr>
          <a:lstStyle/>
          <a:p>
            <a:pPr lvl="1" algn="just">
              <a:lnSpc>
                <a:spcPct val="150000"/>
              </a:lnSpc>
            </a:pPr>
            <a:endParaRPr lang="en-IN" sz="1600" dirty="0">
              <a:effectLst/>
              <a:latin typeface="Times New Roman" panose="02020603050405020304" pitchFamily="18" charset="0"/>
              <a:ea typeface="Calibri" panose="020F0502020204030204" pitchFamily="34" charset="0"/>
            </a:endParaRPr>
          </a:p>
          <a:p>
            <a:pPr marL="201168" lvl="1" indent="0" algn="just">
              <a:lnSpc>
                <a:spcPct val="150000"/>
              </a:lnSpc>
              <a:buNone/>
            </a:pPr>
            <a:r>
              <a:rPr lang="en-IN" sz="1600" dirty="0">
                <a:latin typeface="Times New Roman" panose="02020603050405020304" pitchFamily="18" charset="0"/>
                <a:ea typeface="Calibri" panose="020F0502020204030204" pitchFamily="34" charset="0"/>
              </a:rPr>
              <a:t>	</a:t>
            </a:r>
            <a:r>
              <a:rPr lang="en-IN" sz="1600" dirty="0">
                <a:effectLst/>
                <a:latin typeface="Times New Roman" panose="02020603050405020304" pitchFamily="18" charset="0"/>
                <a:ea typeface="Calibri" panose="020F0502020204030204" pitchFamily="34" charset="0"/>
              </a:rPr>
              <a:t>In conclusion, this study demonstrates the effectiveness of predictive analytics in forecasting Customer Lifetime Value (CLV) to enhance business decision-making. By applying the BG/NBD and Gamma-Gamma models, we estimate customer transaction frequency, retention probability, and monetary value, providing valuable insights into long-term customer relationships. Through data preprocessing and exploratory data analysis (EDA), key behavioural patterns emerge, allowing businesses to segment customers based on their potential value. The findings emphasize the critical role of customer retention strategies, highlighting that maintaining loyal customers is more cost-effective than acquiring new ones. Ultimately, this approach equips businesses with data-driven strategies to prioritize high-value customers, optimize marketing efforts, and maximize revenue growth, reinforcing the significance of CLV in customer relationship management.</a:t>
            </a:r>
            <a:endParaRPr lang="en-IN" dirty="0"/>
          </a:p>
        </p:txBody>
      </p:sp>
    </p:spTree>
    <p:extLst>
      <p:ext uri="{BB962C8B-B14F-4D97-AF65-F5344CB8AC3E}">
        <p14:creationId xmlns:p14="http://schemas.microsoft.com/office/powerpoint/2010/main" val="2420933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FC70-DE0D-7CB6-4BF5-08B7F96BB25B}"/>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FUTURE SCOPE</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8256D1-8E72-0330-6B2B-1DA993EB9CE5}"/>
              </a:ext>
            </a:extLst>
          </p:cNvPr>
          <p:cNvSpPr>
            <a:spLocks noGrp="1"/>
          </p:cNvSpPr>
          <p:nvPr>
            <p:ph idx="1"/>
          </p:nvPr>
        </p:nvSpPr>
        <p:spPr>
          <a:xfrm>
            <a:off x="668593" y="1845734"/>
            <a:ext cx="10962967" cy="4023360"/>
          </a:xfrm>
        </p:spPr>
        <p:txBody>
          <a:bodyPr>
            <a:normAutofit/>
          </a:bodyPr>
          <a:lstStyle/>
          <a:p>
            <a:pPr marL="201168" lvl="1" indent="0" algn="just">
              <a:lnSpc>
                <a:spcPct val="150000"/>
              </a:lnSpc>
              <a:buNone/>
            </a:pPr>
            <a:endParaRPr lang="en-IN" sz="1600" dirty="0">
              <a:effectLst/>
              <a:latin typeface="Times New Roman" panose="02020603050405020304" pitchFamily="18" charset="0"/>
              <a:ea typeface="Calibri" panose="020F0502020204030204" pitchFamily="34" charset="0"/>
            </a:endParaRPr>
          </a:p>
          <a:p>
            <a:pPr marL="201168" lvl="1" indent="0" algn="just">
              <a:lnSpc>
                <a:spcPct val="150000"/>
              </a:lnSpc>
              <a:buNone/>
            </a:pPr>
            <a:r>
              <a:rPr lang="en-IN" sz="1600" dirty="0">
                <a:latin typeface="Times New Roman" panose="02020603050405020304" pitchFamily="18" charset="0"/>
                <a:ea typeface="Calibri" panose="020F0502020204030204" pitchFamily="34" charset="0"/>
              </a:rPr>
              <a:t>	</a:t>
            </a:r>
            <a:r>
              <a:rPr lang="en-IN" sz="1600" dirty="0">
                <a:effectLst/>
                <a:latin typeface="Times New Roman" panose="02020603050405020304" pitchFamily="18" charset="0"/>
                <a:ea typeface="Calibri" panose="020F0502020204030204" pitchFamily="34" charset="0"/>
              </a:rPr>
              <a:t>The future scope of Customer Lifetime Value (CLV) forecasting lies in enhancing predictive accuracy, integrating advanced machine learning techniques, and expanding real-time applications. Incorporating deep learning models and reinforcement learning can further refine CLV predictions by capturing non-linear relationships and dynamic customer behaviours. Additionally, integrating external data sources such as social media interactions, market trends, and economic indicators can enrich customer insights, making CLV models more robust. The application of real-time analytics and automation in CRM systems will enable businesses to adapt personalized marketing strategies dynamically, improving customer engagement and retention. Furthermore, leveraging AI-driven recommendation engines can optimize cross-selling and upselling opportunities, enhancing revenue potential. Lastly, as data privacy regulations evolve, developing ethical and compliant CLV models will be crucial for sustaining customer trust and long-term business growth.</a:t>
            </a:r>
            <a:endParaRPr lang="en-IN" dirty="0"/>
          </a:p>
        </p:txBody>
      </p:sp>
    </p:spTree>
    <p:extLst>
      <p:ext uri="{BB962C8B-B14F-4D97-AF65-F5344CB8AC3E}">
        <p14:creationId xmlns:p14="http://schemas.microsoft.com/office/powerpoint/2010/main" val="19996435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F39B3-4F4A-BB5C-2659-1448DC2DFBB5}"/>
              </a:ext>
            </a:extLst>
          </p:cNvPr>
          <p:cNvSpPr>
            <a:spLocks noGrp="1"/>
          </p:cNvSpPr>
          <p:nvPr>
            <p:ph type="title"/>
          </p:nvPr>
        </p:nvSpPr>
        <p:spPr/>
        <p:txBody>
          <a:bodyPr>
            <a:normAutofit/>
          </a:bodyPr>
          <a:lstStyle/>
          <a:p>
            <a:pPr algn="ctr">
              <a:lnSpc>
                <a:spcPct val="150000"/>
              </a:lnSpc>
            </a:pPr>
            <a:r>
              <a:rPr lang="en-US" sz="3200" b="1" dirty="0">
                <a:latin typeface="Times New Roman" panose="02020603050405020304" pitchFamily="18" charset="0"/>
                <a:cs typeface="Times New Roman" panose="02020603050405020304" pitchFamily="18" charset="0"/>
              </a:rPr>
              <a:t>REFERENCES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3913A5F-0D9E-7C66-2E21-64A08168CE6E}"/>
              </a:ext>
            </a:extLst>
          </p:cNvPr>
          <p:cNvSpPr>
            <a:spLocks noGrp="1"/>
          </p:cNvSpPr>
          <p:nvPr>
            <p:ph idx="1"/>
          </p:nvPr>
        </p:nvSpPr>
        <p:spPr>
          <a:xfrm>
            <a:off x="275303" y="1845734"/>
            <a:ext cx="11641394" cy="4397750"/>
          </a:xfrm>
        </p:spPr>
        <p:txBody>
          <a:bodyPr>
            <a:noAutofit/>
          </a:bodyPr>
          <a:lstStyle/>
          <a:p>
            <a:pPr marL="342900" indent="-342900" algn="just">
              <a:lnSpc>
                <a:spcPct val="160000"/>
              </a:lnSpc>
              <a:buFont typeface="+mj-lt"/>
              <a:buAutoNum type="arabicPeriod"/>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A.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Mammadzada</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E.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Alasgarov</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and A. Mammadov, "Application of BG / NBD and Gamma-Gamma Models to Predict Customer Lifetime Value for Financial Institution," 2021 IEEE 15th International Conference on Application of Information and Communication Technologies (AICT), 2021, pp. 1-6,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10.1109/AICT52784.2021.9620535.</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60000"/>
              </a:lnSpc>
              <a:buFont typeface="+mj-lt"/>
              <a:buAutoNum type="arabicPeriod"/>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A. P. Mauricio, J. M. M.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Payawal</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M. A. Dela Cueva and V. C. Quevedo, "Predicting Customer Lifetime Value through Data Mining Technique in a Direct Selling Company," 2016 International Conference on Industrial Engineering, Management Science and Application (ICIMSA), 2016, pp. 1-5,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10.1109/ICIMSA.2016.7504027.</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60000"/>
              </a:lnSpc>
              <a:buFont typeface="+mj-lt"/>
              <a:buAutoNum type="arabicPeriod"/>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Chamberlain, Benjamin &amp; Cardoso,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Ã‚ngelo</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&amp; Liu, C.H. &amp;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Pagliari</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Roberto &amp; Deisenroth, Marc. (2017).</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60000"/>
              </a:lnSpc>
              <a:buFont typeface="+mj-lt"/>
              <a:buAutoNum type="arabicPeriod"/>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Customer Lifetime Value Prediction Using Embeddings. 1753-1762. 10.1145/3097983.3098123.</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60000"/>
              </a:lnSpc>
              <a:buFont typeface="+mj-lt"/>
              <a:buAutoNum type="arabicPeriod"/>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Jasek, Pavel; Vrana, Lenka;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Sperkova</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Lucie;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Smutny</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Zdenek;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Kobulskx</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Marek. Journal of Business Economics and Management; Vilnius Vol. 20,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Iss</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3, (Apr 2019): 398-423. DOI:10.3846/jbem.2019.9597</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60000"/>
              </a:lnSpc>
              <a:buFont typeface="+mj-lt"/>
              <a:buAutoNum type="arabicPeriod"/>
            </a:pPr>
            <a:endParaRPr lang="en-IN" sz="1500" dirty="0"/>
          </a:p>
        </p:txBody>
      </p:sp>
    </p:spTree>
    <p:extLst>
      <p:ext uri="{BB962C8B-B14F-4D97-AF65-F5344CB8AC3E}">
        <p14:creationId xmlns:p14="http://schemas.microsoft.com/office/powerpoint/2010/main" val="3713005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FB6A24-6E0F-6E53-9EC0-D129F2AAB39D}"/>
              </a:ext>
            </a:extLst>
          </p:cNvPr>
          <p:cNvSpPr>
            <a:spLocks noGrp="1"/>
          </p:cNvSpPr>
          <p:nvPr>
            <p:ph idx="1"/>
          </p:nvPr>
        </p:nvSpPr>
        <p:spPr>
          <a:xfrm>
            <a:off x="452284" y="1845734"/>
            <a:ext cx="11287432" cy="4397750"/>
          </a:xfrm>
        </p:spPr>
        <p:txBody>
          <a:bodyPr>
            <a:normAutofit lnSpcReduction="10000"/>
          </a:bodyPr>
          <a:lstStyle/>
          <a:p>
            <a:pPr marL="342900" indent="-342900" algn="just">
              <a:lnSpc>
                <a:spcPct val="150000"/>
              </a:lnSpc>
              <a:buFont typeface="+mj-lt"/>
              <a:buAutoNum type="arabicPeriod" startAt="6"/>
            </a:pPr>
            <a:r>
              <a:rPr lang="en-US" sz="1600" dirty="0">
                <a:effectLst/>
                <a:latin typeface="Times New Roman" panose="02020603050405020304" pitchFamily="18" charset="0"/>
                <a:ea typeface="Calibri" panose="020F0502020204030204" pitchFamily="34" charset="0"/>
              </a:rPr>
              <a:t>L. C. Yean and K. T. V. Khoo, "Customer relationship management: Computer-assisted tools for customer lifetime value prediction," 2010 International Symposium on Information Technology, 2010, pp. 1180-1185, </a:t>
            </a:r>
            <a:r>
              <a:rPr lang="en-US" sz="1600" dirty="0" err="1">
                <a:effectLst/>
                <a:latin typeface="Times New Roman" panose="02020603050405020304" pitchFamily="18" charset="0"/>
                <a:ea typeface="Calibri" panose="020F0502020204030204" pitchFamily="34" charset="0"/>
              </a:rPr>
              <a:t>doi</a:t>
            </a:r>
            <a:r>
              <a:rPr lang="en-US" sz="1600" dirty="0">
                <a:effectLst/>
                <a:latin typeface="Times New Roman" panose="02020603050405020304" pitchFamily="18" charset="0"/>
                <a:ea typeface="Calibri" panose="020F0502020204030204" pitchFamily="34" charset="0"/>
              </a:rPr>
              <a:t>: 10.1109/ITSIM.2010.5561487.</a:t>
            </a:r>
          </a:p>
          <a:p>
            <a:pPr marL="342900" indent="-342900" algn="just">
              <a:lnSpc>
                <a:spcPct val="150000"/>
              </a:lnSpc>
              <a:buFont typeface="+mj-lt"/>
              <a:buAutoNum type="arabicPeriod" startAt="6"/>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L. C. Yean and V. K. T. Khoo, "Customer Relationship Management: Lifecycle of Predicting Customer Lifetime Value," 2010 Second International Conference on Computer Research and Development, 2010, pp. 88-92,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10.1109/ICCRD.2010.24.</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buFont typeface="+mj-lt"/>
              <a:buAutoNum type="arabicPeriod" startAt="6"/>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 T. Win and K. S. Bo, "Predicting Customer Class using Customer Lifetime Value with Random Forest Algorithm," 2020 International Conference on Advanced Information Technologies (ICAIT), 2020, pp. 236- 241,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10.1109/ICAIT51105.2020.9261792.</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buFont typeface="+mj-lt"/>
              <a:buAutoNum type="arabicPeriod" startAt="6"/>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X. N. Wang, "Research of CLV Forecasting Model Based on E-Commerce Website," 2009 First International Conference on Information Science and Engineering, 2009, pp. 3002-3005,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10.1109/ICISE.2009.906.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buFont typeface="+mj-lt"/>
              <a:buAutoNum type="arabicPeriod" startAt="6"/>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Jake</a:t>
            </a:r>
            <a:r>
              <a:rPr lang="en-IN" sz="1600" spc="-4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Vander</a:t>
            </a:r>
            <a:r>
              <a:rPr lang="en-IN" sz="1600"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err="1">
                <a:effectLst/>
                <a:latin typeface="Times New Roman" panose="02020603050405020304" pitchFamily="18" charset="0"/>
                <a:ea typeface="Calibri" panose="020F0502020204030204" pitchFamily="34" charset="0"/>
                <a:cs typeface="Times New Roman" panose="02020603050405020304" pitchFamily="18" charset="0"/>
              </a:rPr>
              <a:t>plas</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600" spc="-5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“Python</a:t>
            </a:r>
            <a:r>
              <a:rPr lang="en-IN" sz="1600" spc="-6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Data</a:t>
            </a:r>
            <a:r>
              <a:rPr lang="en-IN" sz="1600" spc="-5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Science</a:t>
            </a:r>
            <a:r>
              <a:rPr lang="en-IN" sz="1600"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Handbook:</a:t>
            </a:r>
            <a:r>
              <a:rPr lang="en-IN" sz="1600" spc="-5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Essential</a:t>
            </a:r>
            <a:r>
              <a:rPr lang="en-IN" sz="1600"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tools</a:t>
            </a:r>
            <a:r>
              <a:rPr lang="en-IN" sz="1600" spc="-5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for</a:t>
            </a:r>
            <a:r>
              <a:rPr lang="en-IN" sz="16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working</a:t>
            </a:r>
            <a:r>
              <a:rPr lang="en-IN" sz="1600" spc="-6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with</a:t>
            </a:r>
            <a:r>
              <a:rPr lang="en-IN" sz="1600" spc="-4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data”,</a:t>
            </a:r>
            <a:r>
              <a:rPr lang="en-IN" sz="16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O‘Reilly</a:t>
            </a:r>
            <a:r>
              <a:rPr lang="en-IN" sz="1600" spc="-5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10" dirty="0" err="1">
                <a:effectLst/>
                <a:latin typeface="Times New Roman" panose="02020603050405020304" pitchFamily="18" charset="0"/>
                <a:ea typeface="Calibri" panose="020F0502020204030204" pitchFamily="34" charset="0"/>
                <a:cs typeface="Times New Roman" panose="02020603050405020304" pitchFamily="18" charset="0"/>
              </a:rPr>
              <a:t>Publishers,</a:t>
            </a:r>
            <a:r>
              <a:rPr lang="en-IN" sz="16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10" dirty="0">
                <a:effectLst/>
                <a:latin typeface="Times New Roman" panose="02020603050405020304" pitchFamily="18" charset="0"/>
                <a:ea typeface="Calibri" panose="020F0502020204030204" pitchFamily="34" charset="0"/>
                <a:cs typeface="Times New Roman" panose="02020603050405020304" pitchFamily="18" charset="0"/>
              </a:rPr>
              <a:t>Edition.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buFont typeface="+mj-lt"/>
              <a:buAutoNum type="arabicPeriod" startAt="6"/>
            </a:pPr>
            <a:endParaRPr lang="en-IN" sz="1800" dirty="0"/>
          </a:p>
        </p:txBody>
      </p:sp>
    </p:spTree>
    <p:extLst>
      <p:ext uri="{BB962C8B-B14F-4D97-AF65-F5344CB8AC3E}">
        <p14:creationId xmlns:p14="http://schemas.microsoft.com/office/powerpoint/2010/main" val="250751195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docProps/app.xml><?xml version="1.0" encoding="utf-8"?>
<Properties xmlns="http://schemas.openxmlformats.org/officeDocument/2006/extended-properties" xmlns:vt="http://schemas.openxmlformats.org/officeDocument/2006/docPropsVTypes">
  <Template>Retrospect</Template>
  <TotalTime>174</TotalTime>
  <Words>3331</Words>
  <Application>Microsoft Office PowerPoint</Application>
  <PresentationFormat>Widescreen</PresentationFormat>
  <Paragraphs>188</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Retrospect</vt:lpstr>
      <vt:lpstr>Strategic Forecasting of Customer Lifetime Value: Enhancing Business Insights Through Predictive Analytics</vt:lpstr>
      <vt:lpstr>CONTENTS</vt:lpstr>
      <vt:lpstr>ABSTRACT</vt:lpstr>
      <vt:lpstr>INTRODUCTION</vt:lpstr>
      <vt:lpstr>PowerPoint Presentation</vt:lpstr>
      <vt:lpstr>OBJECTIVE </vt:lpstr>
      <vt:lpstr>SCOPE</vt:lpstr>
      <vt:lpstr>LITERATURE SURVEY</vt:lpstr>
      <vt:lpstr>PowerPoint Presentation</vt:lpstr>
      <vt:lpstr>PowerPoint Presentation</vt:lpstr>
      <vt:lpstr>PowerPoint Presentation</vt:lpstr>
      <vt:lpstr>PowerPoint Presentation</vt:lpstr>
      <vt:lpstr>EXISTING SYSTEM</vt:lpstr>
      <vt:lpstr>PowerPoint Presentation</vt:lpstr>
      <vt:lpstr>PROPOSED SYSTEM</vt:lpstr>
      <vt:lpstr>PowerPoint Presentation</vt:lpstr>
      <vt:lpstr>SOFTWARE REQUIREMENTS</vt:lpstr>
      <vt:lpstr>CLASS  DIAGRAM</vt:lpstr>
      <vt:lpstr>FLOW  CHART</vt:lpstr>
      <vt:lpstr>SEQUENCE DIAGRAM</vt:lpstr>
      <vt:lpstr>ARCHITECTURE DIAGRAM</vt:lpstr>
      <vt:lpstr>RESULTS</vt:lpstr>
      <vt:lpstr>PowerPoint Presentation</vt:lpstr>
      <vt:lpstr>PowerPoint Presentation</vt:lpstr>
      <vt:lpstr>PowerPoint Presentation</vt:lpstr>
      <vt:lpstr>CONCLUSION </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BHARGAVI N</dc:creator>
  <cp:lastModifiedBy>BHARGAVI N</cp:lastModifiedBy>
  <cp:revision>1</cp:revision>
  <dcterms:created xsi:type="dcterms:W3CDTF">2025-03-07T11:53:14Z</dcterms:created>
  <dcterms:modified xsi:type="dcterms:W3CDTF">2025-03-08T06:53:50Z</dcterms:modified>
</cp:coreProperties>
</file>